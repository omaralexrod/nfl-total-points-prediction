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7" d="100"/>
          <a:sy n="147" d="100"/>
        </p:scale>
        <p:origin x="56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7026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presentation covers my data science project: Predicting the Scoreboard. The goal was to use publicly available NFL data to build a regression model that predicts total points scored in a game before it starts — using only pre-game information. Let me walk you through the problem, the data, the methods, and what I found.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problem is straightforward: NFL analysts and broadcasters need better tools. Betting lines exist, but they're proprietary and opaque. This project asked whether publicly available data alone could get us close. The intended audience is domain professionals — not data scientists — so explainability was as important as accuracy.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data, I used nflfastR — a well-established open-source NFL dataset — combined with weather and stadium data from Pro Football Reference. The key insight in feature engineering was using rolling 4-week EPA averages and season-to-date averages, computed strictly from prior games to avoid data leakage. I compared four models, all trained on 2000–2021 data with a held-out test set from the 2022 and 2023 seasons.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results were striking. All four models clustered tightly between 13.41 and 13.63 RMSE. Linear and Ridge Regression performed best — the non-linear models added no value, suggesting the relationship between EPA features and scoring is largely linear. The Vegas benchmark came in at 13.18, meaning our best model trails professional oddsmakers by only 0.23 points using only public data. On the right, you can see that offensive EPA season averages dominate feature importance at 17.5%, with defensive EPA collectively accounting for over 40% — confirming defense matters as much as offense.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key findings stand out. First, EPA-based metrics dominate — season averages more than rolling windows, which was somewhat surprising. Second, wind is a stronger environmental predictor than dome status, even though dome games average 4.2 more points. Third, season averages beat recent form, especially later in the year. And fourth, the gap to Vegas is only 0.23 RMSE points, which is the headline result — public data gets you surprisingly close.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model is without limitations. The biggest gap is the absence of injury and practice data — quarterback changes in particular are a known blind spot. That said, the future applications are exciting. A live in-season version that updates weekly, or a version that incorporates individual player EPA ratings, could close much of the remaining gap to Vegas. Thank you — I am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1.png"/><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1.png"/><Relationship Id="rId5" Type="http://schemas.openxmlformats.org/officeDocument/2006/relationships/image" Target="../media/image4.jpeg"/><Relationship Id="rId4"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a:effectLst/>
      </p:bgPr>
    </p:bg>
    <p:spTree>
      <p:nvGrpSpPr>
        <p:cNvPr id="1" name=""/>
        <p:cNvGrpSpPr/>
        <p:nvPr/>
      </p:nvGrpSpPr>
      <p:grpSpPr>
        <a:xfrm>
          <a:off x="0" y="0"/>
          <a:ext cx="0" cy="0"/>
          <a:chOff x="0" y="0"/>
          <a:chExt cx="0" cy="0"/>
        </a:xfrm>
      </p:grpSpPr>
      <p:sp>
        <p:nvSpPr>
          <p:cNvPr id="2" name="Shape 0"/>
          <p:cNvSpPr/>
          <p:nvPr/>
        </p:nvSpPr>
        <p:spPr>
          <a:xfrm>
            <a:off x="0" y="3474720"/>
            <a:ext cx="9144000" cy="1668780"/>
          </a:xfrm>
          <a:prstGeom prst="rect">
            <a:avLst/>
          </a:prstGeom>
          <a:solidFill>
            <a:srgbClr val="2E5FA3">
              <a:alpha val="80000"/>
            </a:srgbClr>
          </a:solidFill>
          <a:ln w="12700">
            <a:solidFill>
              <a:srgbClr val="2E5FA3"/>
            </a:solidFill>
            <a:prstDash val="solid"/>
          </a:ln>
        </p:spPr>
        <p:txBody>
          <a:bodyPr/>
          <a:lstStyle/>
          <a:p>
            <a:endParaRPr lang="en-US"/>
          </a:p>
        </p:txBody>
      </p:sp>
      <p:sp>
        <p:nvSpPr>
          <p:cNvPr id="3" name="Text 1"/>
          <p:cNvSpPr/>
          <p:nvPr/>
        </p:nvSpPr>
        <p:spPr>
          <a:xfrm>
            <a:off x="457200" y="640080"/>
            <a:ext cx="8229600" cy="1005840"/>
          </a:xfrm>
          <a:prstGeom prst="rect">
            <a:avLst/>
          </a:prstGeom>
          <a:noFill/>
          <a:ln/>
        </p:spPr>
        <p:txBody>
          <a:bodyPr wrap="square" rtlCol="0" anchor="ctr"/>
          <a:lstStyle/>
          <a:p>
            <a:pPr marL="0" indent="0" algn="ctr">
              <a:buNone/>
            </a:pPr>
            <a:r>
              <a:rPr lang="en-US" sz="4000" b="1" kern="0" spc="300" dirty="0">
                <a:solidFill>
                  <a:srgbClr val="FFFFFF"/>
                </a:solidFill>
                <a:latin typeface="Arial" pitchFamily="34" charset="0"/>
                <a:ea typeface="Arial" pitchFamily="34" charset="-122"/>
                <a:cs typeface="Arial" pitchFamily="34" charset="-120"/>
              </a:rPr>
              <a:t>PREDICTING THE SCOREBOARD</a:t>
            </a:r>
            <a:endParaRPr lang="en-US" sz="4000" dirty="0"/>
          </a:p>
        </p:txBody>
      </p:sp>
      <p:sp>
        <p:nvSpPr>
          <p:cNvPr id="4" name="Text 2"/>
          <p:cNvSpPr/>
          <p:nvPr/>
        </p:nvSpPr>
        <p:spPr>
          <a:xfrm>
            <a:off x="457200" y="1600200"/>
            <a:ext cx="8229600" cy="548640"/>
          </a:xfrm>
          <a:prstGeom prst="rect">
            <a:avLst/>
          </a:prstGeom>
          <a:noFill/>
          <a:ln/>
        </p:spPr>
        <p:txBody>
          <a:bodyPr wrap="square" rtlCol="0" anchor="ctr"/>
          <a:lstStyle/>
          <a:p>
            <a:pPr marL="0" indent="0" algn="ctr">
              <a:buNone/>
            </a:pPr>
            <a:r>
              <a:rPr lang="en-US" sz="2000" i="1" dirty="0">
                <a:solidFill>
                  <a:srgbClr val="D6E4F0"/>
                </a:solidFill>
                <a:latin typeface="Arial" pitchFamily="34" charset="0"/>
                <a:ea typeface="Arial" pitchFamily="34" charset="-122"/>
                <a:cs typeface="Arial" pitchFamily="34" charset="-120"/>
              </a:rPr>
              <a:t>A Data-Driven Approach to NFL Game Scoring</a:t>
            </a:r>
            <a:endParaRPr lang="en-US" sz="2000" dirty="0"/>
          </a:p>
        </p:txBody>
      </p:sp>
      <p:sp>
        <p:nvSpPr>
          <p:cNvPr id="5" name="Text 3"/>
          <p:cNvSpPr/>
          <p:nvPr/>
        </p:nvSpPr>
        <p:spPr>
          <a:xfrm>
            <a:off x="457200" y="3657600"/>
            <a:ext cx="8229600" cy="457200"/>
          </a:xfrm>
          <a:prstGeom prst="rect">
            <a:avLst/>
          </a:prstGeom>
          <a:noFill/>
          <a:ln/>
        </p:spPr>
        <p:txBody>
          <a:bodyPr wrap="square"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Omar Rodriguez Arellano</a:t>
            </a:r>
            <a:endParaRPr lang="en-US" sz="1400" dirty="0"/>
          </a:p>
        </p:txBody>
      </p:sp>
      <p:pic>
        <p:nvPicPr>
          <p:cNvPr id="22" name="Audio 21">
            <a:extLst>
              <a:ext uri="{FF2B5EF4-FFF2-40B4-BE49-F238E27FC236}">
                <a16:creationId xmlns:a16="http://schemas.microsoft.com/office/drawing/2014/main" id="{BE6E324E-B0E2-58AC-CE46-12DBD918FEA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8964"/>
    </mc:Choice>
    <mc:Fallback xmlns="">
      <p:transition spd="slow" advTm="289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F3864"/>
          </a:solidFill>
          <a:ln w="12700">
            <a:solidFill>
              <a:srgbClr val="1F3864"/>
            </a:solidFill>
            <a:prstDash val="solid"/>
          </a:ln>
        </p:spPr>
        <p:txBody>
          <a:bodyPr/>
          <a:lstStyle/>
          <a:p>
            <a:endParaRPr lang="en-US"/>
          </a:p>
        </p:txBody>
      </p:sp>
      <p:sp>
        <p:nvSpPr>
          <p:cNvPr id="3" name="Text 1"/>
          <p:cNvSpPr/>
          <p:nvPr/>
        </p:nvSpPr>
        <p:spPr>
          <a:xfrm>
            <a:off x="365760" y="0"/>
            <a:ext cx="8412480" cy="1005840"/>
          </a:xfrm>
          <a:prstGeom prst="rect">
            <a:avLst/>
          </a:prstGeom>
          <a:noFill/>
          <a:ln/>
        </p:spPr>
        <p:txBody>
          <a:bodyPr wrap="square" rtlCol="0" anchor="ctr"/>
          <a:lstStyle/>
          <a:p>
            <a:pPr marL="0" indent="0">
              <a:buNone/>
            </a:pPr>
            <a:r>
              <a:rPr lang="en-US" sz="2800" b="1" dirty="0">
                <a:solidFill>
                  <a:srgbClr val="FFFFFF"/>
                </a:solidFill>
                <a:latin typeface="Arial" pitchFamily="34" charset="0"/>
                <a:ea typeface="Arial" pitchFamily="34" charset="-122"/>
                <a:cs typeface="Arial" pitchFamily="34" charset="-120"/>
              </a:rPr>
              <a:t>BUSINESS PROBLEM</a:t>
            </a:r>
            <a:endParaRPr lang="en-US" sz="2800" dirty="0"/>
          </a:p>
        </p:txBody>
      </p:sp>
      <p:sp>
        <p:nvSpPr>
          <p:cNvPr id="4" name="Shape 2"/>
          <p:cNvSpPr/>
          <p:nvPr/>
        </p:nvSpPr>
        <p:spPr>
          <a:xfrm>
            <a:off x="365760" y="1234440"/>
            <a:ext cx="4114800" cy="1417320"/>
          </a:xfrm>
          <a:prstGeom prst="roundRect">
            <a:avLst>
              <a:gd name="adj" fmla="val 5161"/>
            </a:avLst>
          </a:prstGeom>
          <a:solidFill>
            <a:srgbClr val="F0F4FB"/>
          </a:solidFill>
          <a:ln w="12700">
            <a:solidFill>
              <a:srgbClr val="D6E4F0"/>
            </a:solidFill>
            <a:prstDash val="solid"/>
          </a:ln>
          <a:effectLst>
            <a:outerShdw blurRad="101600" dist="38100" dir="2700000" algn="bl" rotWithShape="0">
              <a:srgbClr val="000000">
                <a:alpha val="12000"/>
              </a:srgbClr>
            </a:outerShdw>
          </a:effectLst>
        </p:spPr>
        <p:txBody>
          <a:bodyPr/>
          <a:lstStyle/>
          <a:p>
            <a:endParaRPr lang="en-US"/>
          </a:p>
        </p:txBody>
      </p:sp>
      <p:sp>
        <p:nvSpPr>
          <p:cNvPr id="5" name="Text 3"/>
          <p:cNvSpPr/>
          <p:nvPr/>
        </p:nvSpPr>
        <p:spPr>
          <a:xfrm>
            <a:off x="502920" y="1344168"/>
            <a:ext cx="3840480" cy="1188720"/>
          </a:xfrm>
          <a:prstGeom prst="rect">
            <a:avLst/>
          </a:prstGeom>
          <a:noFill/>
          <a:ln/>
        </p:spPr>
        <p:txBody>
          <a:bodyPr wrap="square" rtlCol="0" anchor="t"/>
          <a:lstStyle/>
          <a:p>
            <a:pPr marL="0" indent="0">
              <a:buNone/>
            </a:pPr>
            <a:r>
              <a:rPr lang="en-US" sz="1300" b="1" dirty="0">
                <a:solidFill>
                  <a:srgbClr val="2E5FA3"/>
                </a:solidFill>
                <a:latin typeface="Arial" pitchFamily="34" charset="0"/>
                <a:ea typeface="Arial" pitchFamily="34" charset="-122"/>
                <a:cs typeface="Arial" pitchFamily="34" charset="-120"/>
              </a:rPr>
              <a:t>The Challenge
</a:t>
            </a:r>
            <a:r>
              <a:rPr lang="en-US" sz="1200" dirty="0">
                <a:solidFill>
                  <a:srgbClr val="333333"/>
                </a:solidFill>
                <a:latin typeface="Arial" pitchFamily="34" charset="0"/>
                <a:ea typeface="Arial" pitchFamily="34" charset="-122"/>
                <a:cs typeface="Arial" pitchFamily="34" charset="-120"/>
              </a:rPr>
              <a:t>NFL analysts, coaches, and broadcasters need tools to anticipate game scoring but current approaches rely on expert opinion or betting market lines.</a:t>
            </a:r>
            <a:endParaRPr lang="en-US" sz="1300" dirty="0"/>
          </a:p>
        </p:txBody>
      </p:sp>
      <p:sp>
        <p:nvSpPr>
          <p:cNvPr id="6" name="Shape 4"/>
          <p:cNvSpPr/>
          <p:nvPr/>
        </p:nvSpPr>
        <p:spPr>
          <a:xfrm>
            <a:off x="4754880" y="1234440"/>
            <a:ext cx="4114800" cy="1417320"/>
          </a:xfrm>
          <a:prstGeom prst="roundRect">
            <a:avLst>
              <a:gd name="adj" fmla="val 5161"/>
            </a:avLst>
          </a:prstGeom>
          <a:solidFill>
            <a:srgbClr val="FEF3F0"/>
          </a:solidFill>
          <a:ln w="12700">
            <a:solidFill>
              <a:srgbClr val="FACBBF"/>
            </a:solidFill>
            <a:prstDash val="solid"/>
          </a:ln>
          <a:effectLst>
            <a:outerShdw blurRad="101600" dist="38100" dir="2700000" algn="bl" rotWithShape="0">
              <a:srgbClr val="000000">
                <a:alpha val="12000"/>
              </a:srgbClr>
            </a:outerShdw>
          </a:effectLst>
        </p:spPr>
        <p:txBody>
          <a:bodyPr/>
          <a:lstStyle/>
          <a:p>
            <a:endParaRPr lang="en-US"/>
          </a:p>
        </p:txBody>
      </p:sp>
      <p:sp>
        <p:nvSpPr>
          <p:cNvPr id="7" name="Text 5"/>
          <p:cNvSpPr/>
          <p:nvPr/>
        </p:nvSpPr>
        <p:spPr>
          <a:xfrm>
            <a:off x="4892040" y="1344168"/>
            <a:ext cx="3840480" cy="1188720"/>
          </a:xfrm>
          <a:prstGeom prst="rect">
            <a:avLst/>
          </a:prstGeom>
          <a:noFill/>
          <a:ln/>
        </p:spPr>
        <p:txBody>
          <a:bodyPr wrap="square" rtlCol="0" anchor="t"/>
          <a:lstStyle/>
          <a:p>
            <a:pPr marL="0" indent="0">
              <a:buNone/>
            </a:pPr>
            <a:r>
              <a:rPr lang="en-US" sz="1300" b="1" dirty="0">
                <a:solidFill>
                  <a:srgbClr val="E8513A"/>
                </a:solidFill>
                <a:latin typeface="Arial" pitchFamily="34" charset="0"/>
                <a:ea typeface="Arial" pitchFamily="34" charset="-122"/>
                <a:cs typeface="Arial" pitchFamily="34" charset="-120"/>
              </a:rPr>
              <a:t>The Goal
</a:t>
            </a:r>
            <a:r>
              <a:rPr lang="en-US" sz="1200" dirty="0">
                <a:solidFill>
                  <a:srgbClr val="333333"/>
                </a:solidFill>
                <a:latin typeface="Arial" pitchFamily="34" charset="0"/>
                <a:ea typeface="Arial" pitchFamily="34" charset="-122"/>
                <a:cs typeface="Arial" pitchFamily="34" charset="-120"/>
              </a:rPr>
              <a:t>Build a transparent, reproducible regression model that predicts total points scored using only pre-game team statistics and situational factors.</a:t>
            </a:r>
            <a:endParaRPr lang="en-US" sz="1300" dirty="0"/>
          </a:p>
        </p:txBody>
      </p:sp>
      <p:sp>
        <p:nvSpPr>
          <p:cNvPr id="8" name="Shape 6"/>
          <p:cNvSpPr/>
          <p:nvPr/>
        </p:nvSpPr>
        <p:spPr>
          <a:xfrm>
            <a:off x="365760" y="2834640"/>
            <a:ext cx="4114800" cy="1417320"/>
          </a:xfrm>
          <a:prstGeom prst="roundRect">
            <a:avLst>
              <a:gd name="adj" fmla="val 5161"/>
            </a:avLst>
          </a:prstGeom>
          <a:solidFill>
            <a:srgbClr val="F0F4FB"/>
          </a:solidFill>
          <a:ln w="12700">
            <a:solidFill>
              <a:srgbClr val="D6E4F0"/>
            </a:solidFill>
            <a:prstDash val="solid"/>
          </a:ln>
          <a:effectLst>
            <a:outerShdw blurRad="101600" dist="38100" dir="2700000" algn="bl" rotWithShape="0">
              <a:srgbClr val="000000">
                <a:alpha val="12000"/>
              </a:srgbClr>
            </a:outerShdw>
          </a:effectLst>
        </p:spPr>
        <p:txBody>
          <a:bodyPr/>
          <a:lstStyle/>
          <a:p>
            <a:endParaRPr lang="en-US"/>
          </a:p>
        </p:txBody>
      </p:sp>
      <p:sp>
        <p:nvSpPr>
          <p:cNvPr id="9" name="Text 7"/>
          <p:cNvSpPr/>
          <p:nvPr/>
        </p:nvSpPr>
        <p:spPr>
          <a:xfrm>
            <a:off x="502920" y="2944368"/>
            <a:ext cx="3840480" cy="1188720"/>
          </a:xfrm>
          <a:prstGeom prst="rect">
            <a:avLst/>
          </a:prstGeom>
          <a:noFill/>
          <a:ln/>
        </p:spPr>
        <p:txBody>
          <a:bodyPr wrap="square" rtlCol="0" anchor="t"/>
          <a:lstStyle/>
          <a:p>
            <a:pPr marL="0" indent="0">
              <a:buNone/>
            </a:pPr>
            <a:r>
              <a:rPr lang="en-US" sz="1300" b="1" dirty="0">
                <a:solidFill>
                  <a:srgbClr val="2E5FA3"/>
                </a:solidFill>
                <a:latin typeface="Arial" pitchFamily="34" charset="0"/>
                <a:ea typeface="Arial" pitchFamily="34" charset="-122"/>
                <a:cs typeface="Arial" pitchFamily="34" charset="-120"/>
              </a:rPr>
              <a:t>The Audience
</a:t>
            </a:r>
            <a:r>
              <a:rPr lang="en-US" sz="1200" dirty="0">
                <a:solidFill>
                  <a:srgbClr val="333333"/>
                </a:solidFill>
                <a:latin typeface="Arial" pitchFamily="34" charset="0"/>
                <a:ea typeface="Arial" pitchFamily="34" charset="-122"/>
                <a:cs typeface="Arial" pitchFamily="34" charset="-120"/>
              </a:rPr>
              <a:t>NFL analysts, coaching staffs, and sports broadcasters who want data-backed game previews without needing a data science background.</a:t>
            </a:r>
            <a:endParaRPr lang="en-US" sz="1300" dirty="0"/>
          </a:p>
        </p:txBody>
      </p:sp>
      <p:sp>
        <p:nvSpPr>
          <p:cNvPr id="10" name="Shape 8"/>
          <p:cNvSpPr/>
          <p:nvPr/>
        </p:nvSpPr>
        <p:spPr>
          <a:xfrm>
            <a:off x="4754880" y="2834640"/>
            <a:ext cx="4114800" cy="1417320"/>
          </a:xfrm>
          <a:prstGeom prst="roundRect">
            <a:avLst>
              <a:gd name="adj" fmla="val 5161"/>
            </a:avLst>
          </a:prstGeom>
          <a:solidFill>
            <a:srgbClr val="FEF3F0"/>
          </a:solidFill>
          <a:ln w="12700">
            <a:solidFill>
              <a:srgbClr val="FACBBF"/>
            </a:solidFill>
            <a:prstDash val="solid"/>
          </a:ln>
          <a:effectLst>
            <a:outerShdw blurRad="101600" dist="38100" dir="2700000" algn="bl" rotWithShape="0">
              <a:srgbClr val="000000">
                <a:alpha val="12000"/>
              </a:srgbClr>
            </a:outerShdw>
          </a:effectLst>
        </p:spPr>
        <p:txBody>
          <a:bodyPr/>
          <a:lstStyle/>
          <a:p>
            <a:endParaRPr lang="en-US"/>
          </a:p>
        </p:txBody>
      </p:sp>
      <p:sp>
        <p:nvSpPr>
          <p:cNvPr id="11" name="Text 9"/>
          <p:cNvSpPr/>
          <p:nvPr/>
        </p:nvSpPr>
        <p:spPr>
          <a:xfrm>
            <a:off x="4892040" y="2944368"/>
            <a:ext cx="3840480" cy="1188720"/>
          </a:xfrm>
          <a:prstGeom prst="rect">
            <a:avLst/>
          </a:prstGeom>
          <a:noFill/>
          <a:ln/>
        </p:spPr>
        <p:txBody>
          <a:bodyPr wrap="square" rtlCol="0" anchor="t"/>
          <a:lstStyle/>
          <a:p>
            <a:pPr marL="0" indent="0">
              <a:buNone/>
            </a:pPr>
            <a:r>
              <a:rPr lang="en-US" sz="1300" b="1" dirty="0">
                <a:solidFill>
                  <a:srgbClr val="E8513A"/>
                </a:solidFill>
                <a:latin typeface="Arial" pitchFamily="34" charset="0"/>
                <a:ea typeface="Arial" pitchFamily="34" charset="-122"/>
                <a:cs typeface="Arial" pitchFamily="34" charset="-120"/>
              </a:rPr>
              <a:t>The Benchmark
</a:t>
            </a:r>
            <a:r>
              <a:rPr lang="en-US" sz="1200" dirty="0">
                <a:solidFill>
                  <a:srgbClr val="333333"/>
                </a:solidFill>
                <a:latin typeface="Arial" pitchFamily="34" charset="0"/>
                <a:ea typeface="Arial" pitchFamily="34" charset="-122"/>
                <a:cs typeface="Arial" pitchFamily="34" charset="-120"/>
              </a:rPr>
              <a:t>Compare model accuracy against Vegas over/under lines which is the best publicly available real-world standard for scoring prediction.</a:t>
            </a:r>
            <a:endParaRPr lang="en-US" sz="1300" dirty="0"/>
          </a:p>
        </p:txBody>
      </p:sp>
      <p:pic>
        <p:nvPicPr>
          <p:cNvPr id="42" name="Audio 41">
            <a:extLst>
              <a:ext uri="{FF2B5EF4-FFF2-40B4-BE49-F238E27FC236}">
                <a16:creationId xmlns:a16="http://schemas.microsoft.com/office/drawing/2014/main" id="{51F41B5F-5EFE-D802-98C3-80E383C74AC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4020"/>
    </mc:Choice>
    <mc:Fallback xmlns="">
      <p:transition spd="slow" advTm="44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2"/>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F3864"/>
          </a:solidFill>
          <a:ln w="12700">
            <a:solidFill>
              <a:srgbClr val="1F3864"/>
            </a:solidFill>
            <a:prstDash val="solid"/>
          </a:ln>
        </p:spPr>
        <p:txBody>
          <a:bodyPr/>
          <a:lstStyle/>
          <a:p>
            <a:endParaRPr lang="en-US"/>
          </a:p>
        </p:txBody>
      </p:sp>
      <p:sp>
        <p:nvSpPr>
          <p:cNvPr id="3" name="Text 1"/>
          <p:cNvSpPr/>
          <p:nvPr/>
        </p:nvSpPr>
        <p:spPr>
          <a:xfrm>
            <a:off x="365760" y="0"/>
            <a:ext cx="8412480" cy="1005840"/>
          </a:xfrm>
          <a:prstGeom prst="rect">
            <a:avLst/>
          </a:prstGeom>
          <a:noFill/>
          <a:ln/>
        </p:spPr>
        <p:txBody>
          <a:bodyPr wrap="square" rtlCol="0" anchor="ctr"/>
          <a:lstStyle/>
          <a:p>
            <a:pPr marL="0" indent="0">
              <a:buNone/>
            </a:pPr>
            <a:r>
              <a:rPr lang="en-US" sz="2800" b="1" dirty="0">
                <a:solidFill>
                  <a:srgbClr val="FFFFFF"/>
                </a:solidFill>
                <a:latin typeface="Arial" pitchFamily="34" charset="0"/>
                <a:ea typeface="Arial" pitchFamily="34" charset="-122"/>
                <a:cs typeface="Arial" pitchFamily="34" charset="-120"/>
              </a:rPr>
              <a:t>DATA &amp; METHODS</a:t>
            </a:r>
            <a:endParaRPr lang="en-US" sz="2800" dirty="0"/>
          </a:p>
        </p:txBody>
      </p:sp>
      <p:sp>
        <p:nvSpPr>
          <p:cNvPr id="4" name="Shape 2"/>
          <p:cNvSpPr/>
          <p:nvPr/>
        </p:nvSpPr>
        <p:spPr>
          <a:xfrm>
            <a:off x="365760" y="1143000"/>
            <a:ext cx="3931920" cy="3657600"/>
          </a:xfrm>
          <a:prstGeom prst="roundRect">
            <a:avLst>
              <a:gd name="adj" fmla="val 2000"/>
            </a:avLst>
          </a:prstGeom>
          <a:solidFill>
            <a:srgbClr val="F8FAFC"/>
          </a:solidFill>
          <a:ln w="12700">
            <a:solidFill>
              <a:srgbClr val="D6E4F0"/>
            </a:solidFill>
            <a:prstDash val="solid"/>
          </a:ln>
          <a:effectLst>
            <a:outerShdw blurRad="101600" dist="38100" dir="2700000" algn="bl" rotWithShape="0">
              <a:srgbClr val="000000">
                <a:alpha val="12000"/>
              </a:srgbClr>
            </a:outerShdw>
          </a:effectLst>
        </p:spPr>
        <p:txBody>
          <a:bodyPr/>
          <a:lstStyle/>
          <a:p>
            <a:endParaRPr lang="en-US"/>
          </a:p>
        </p:txBody>
      </p:sp>
      <p:sp>
        <p:nvSpPr>
          <p:cNvPr id="5" name="Text 3"/>
          <p:cNvSpPr/>
          <p:nvPr/>
        </p:nvSpPr>
        <p:spPr>
          <a:xfrm>
            <a:off x="502920" y="1234440"/>
            <a:ext cx="3657600" cy="365760"/>
          </a:xfrm>
          <a:prstGeom prst="rect">
            <a:avLst/>
          </a:prstGeom>
          <a:noFill/>
          <a:ln/>
        </p:spPr>
        <p:txBody>
          <a:bodyPr wrap="square" rtlCol="0" anchor="ctr"/>
          <a:lstStyle/>
          <a:p>
            <a:pPr marL="0" indent="0">
              <a:buNone/>
            </a:pPr>
            <a:r>
              <a:rPr lang="en-US" sz="1500" b="1" dirty="0">
                <a:solidFill>
                  <a:srgbClr val="1F3864"/>
                </a:solidFill>
                <a:latin typeface="Arial" pitchFamily="34" charset="0"/>
                <a:ea typeface="Arial" pitchFamily="34" charset="-122"/>
                <a:cs typeface="Arial" pitchFamily="34" charset="-120"/>
              </a:rPr>
              <a:t>Data Sources</a:t>
            </a:r>
            <a:endParaRPr lang="en-US" sz="1500" dirty="0"/>
          </a:p>
        </p:txBody>
      </p:sp>
      <p:sp>
        <p:nvSpPr>
          <p:cNvPr id="6" name="Text 4"/>
          <p:cNvSpPr/>
          <p:nvPr/>
        </p:nvSpPr>
        <p:spPr>
          <a:xfrm>
            <a:off x="502920" y="1645920"/>
            <a:ext cx="3611880" cy="3017520"/>
          </a:xfrm>
          <a:prstGeom prst="rect">
            <a:avLst/>
          </a:prstGeom>
          <a:noFill/>
          <a:ln/>
        </p:spPr>
        <p:txBody>
          <a:bodyPr wrap="square" rtlCol="0" anchor="t"/>
          <a:lstStyle/>
          <a:p>
            <a:pPr marL="0" indent="0">
              <a:buNone/>
            </a:pPr>
            <a:r>
              <a:rPr lang="en-US" sz="1200" b="1" dirty="0">
                <a:solidFill>
                  <a:srgbClr val="2E5FA3"/>
                </a:solidFill>
                <a:latin typeface="Arial" pitchFamily="34" charset="0"/>
                <a:ea typeface="Arial" pitchFamily="34" charset="-122"/>
                <a:cs typeface="Arial" pitchFamily="34" charset="-120"/>
              </a:rPr>
              <a:t>nflfastR (Primary)
</a:t>
            </a:r>
            <a:endParaRPr lang="en-US" sz="1200" dirty="0"/>
          </a:p>
          <a:p>
            <a:pPr marL="0" indent="0">
              <a:buNone/>
            </a:pPr>
            <a:r>
              <a:rPr lang="en-US" sz="1200" dirty="0">
                <a:solidFill>
                  <a:srgbClr val="333333"/>
                </a:solidFill>
                <a:latin typeface="Arial" pitchFamily="34" charset="0"/>
                <a:ea typeface="Arial" pitchFamily="34" charset="-122"/>
                <a:cs typeface="Arial" pitchFamily="34" charset="-120"/>
              </a:rPr>
              <a:t>45,000+ games, 1999–2023
Play-by-play EPA, game-level aggregation
</a:t>
            </a:r>
            <a:endParaRPr lang="en-US" sz="1200" dirty="0"/>
          </a:p>
          <a:p>
            <a:pPr marL="0" indent="0">
              <a:buNone/>
            </a:pPr>
            <a:r>
              <a:rPr lang="en-US" sz="1200" b="1" dirty="0">
                <a:solidFill>
                  <a:srgbClr val="2E5FA3"/>
                </a:solidFill>
                <a:latin typeface="Arial" pitchFamily="34" charset="0"/>
                <a:ea typeface="Arial" pitchFamily="34" charset="-122"/>
                <a:cs typeface="Arial" pitchFamily="34" charset="-120"/>
              </a:rPr>
              <a:t>Pro Football Reference (Supplemental)
</a:t>
            </a:r>
            <a:endParaRPr lang="en-US" sz="1200" dirty="0"/>
          </a:p>
          <a:p>
            <a:pPr marL="0" indent="0">
              <a:buNone/>
            </a:pPr>
            <a:r>
              <a:rPr lang="en-US" sz="1200" dirty="0">
                <a:solidFill>
                  <a:srgbClr val="333333"/>
                </a:solidFill>
                <a:latin typeface="Arial" pitchFamily="34" charset="0"/>
                <a:ea typeface="Arial" pitchFamily="34" charset="-122"/>
                <a:cs typeface="Arial" pitchFamily="34" charset="-120"/>
              </a:rPr>
              <a:t>Temperature, wind speed, stadium type
Precipitation &amp; travel excluded
</a:t>
            </a:r>
            <a:endParaRPr lang="en-US" sz="1200" dirty="0"/>
          </a:p>
          <a:p>
            <a:pPr marL="0" indent="0">
              <a:buNone/>
            </a:pPr>
            <a:r>
              <a:rPr lang="en-US" sz="1200" b="1" dirty="0">
                <a:solidFill>
                  <a:srgbClr val="2E5FA3"/>
                </a:solidFill>
                <a:latin typeface="Arial" pitchFamily="34" charset="0"/>
                <a:ea typeface="Arial" pitchFamily="34" charset="-122"/>
                <a:cs typeface="Arial" pitchFamily="34" charset="-120"/>
              </a:rPr>
              <a:t>Key Engineered Features
</a:t>
            </a:r>
            <a:endParaRPr lang="en-US" sz="1200" dirty="0"/>
          </a:p>
          <a:p>
            <a:pPr marL="0" indent="0">
              <a:buNone/>
            </a:pPr>
            <a:r>
              <a:rPr lang="en-US" sz="1200" dirty="0">
                <a:solidFill>
                  <a:srgbClr val="333333"/>
                </a:solidFill>
                <a:latin typeface="Arial" pitchFamily="34" charset="0"/>
                <a:ea typeface="Arial" pitchFamily="34" charset="-122"/>
                <a:cs typeface="Arial" pitchFamily="34" charset="-120"/>
              </a:rPr>
              <a:t>Rolling 4-week EPA averages</a:t>
            </a:r>
            <a:endParaRPr lang="en-US" sz="1200" dirty="0"/>
          </a:p>
          <a:p>
            <a:pPr marL="0" indent="0">
              <a:buNone/>
            </a:pPr>
            <a:r>
              <a:rPr lang="en-US" sz="1200" dirty="0">
                <a:solidFill>
                  <a:srgbClr val="333333"/>
                </a:solidFill>
                <a:latin typeface="Arial" pitchFamily="34" charset="0"/>
                <a:ea typeface="Arial" pitchFamily="34" charset="-122"/>
                <a:cs typeface="Arial" pitchFamily="34" charset="-120"/>
              </a:rPr>
              <a:t>Season-to-date EPA averages</a:t>
            </a:r>
            <a:endParaRPr lang="en-US" sz="1200" dirty="0"/>
          </a:p>
          <a:p>
            <a:pPr marL="0" indent="0">
              <a:buNone/>
            </a:pPr>
            <a:r>
              <a:rPr lang="en-US" sz="1200" dirty="0">
                <a:solidFill>
                  <a:srgbClr val="333333"/>
                </a:solidFill>
                <a:latin typeface="Arial" pitchFamily="34" charset="0"/>
                <a:ea typeface="Arial" pitchFamily="34" charset="-122"/>
                <a:cs typeface="Arial" pitchFamily="34" charset="-120"/>
              </a:rPr>
              <a:t>Dome indicator, temp, wind</a:t>
            </a:r>
            <a:endParaRPr lang="en-US" sz="1200" dirty="0"/>
          </a:p>
        </p:txBody>
      </p:sp>
      <p:sp>
        <p:nvSpPr>
          <p:cNvPr id="7" name="Shape 5"/>
          <p:cNvSpPr/>
          <p:nvPr/>
        </p:nvSpPr>
        <p:spPr>
          <a:xfrm>
            <a:off x="4663440" y="1143000"/>
            <a:ext cx="4114800" cy="3657600"/>
          </a:xfrm>
          <a:prstGeom prst="roundRect">
            <a:avLst>
              <a:gd name="adj" fmla="val 2000"/>
            </a:avLst>
          </a:prstGeom>
          <a:solidFill>
            <a:srgbClr val="F8FAFC"/>
          </a:solidFill>
          <a:ln w="12700">
            <a:solidFill>
              <a:srgbClr val="D6E4F0"/>
            </a:solidFill>
            <a:prstDash val="solid"/>
          </a:ln>
          <a:effectLst>
            <a:outerShdw blurRad="101600" dist="38100" dir="2700000" algn="bl" rotWithShape="0">
              <a:srgbClr val="000000">
                <a:alpha val="12000"/>
              </a:srgbClr>
            </a:outerShdw>
          </a:effectLst>
        </p:spPr>
        <p:txBody>
          <a:bodyPr/>
          <a:lstStyle/>
          <a:p>
            <a:endParaRPr lang="en-US"/>
          </a:p>
        </p:txBody>
      </p:sp>
      <p:sp>
        <p:nvSpPr>
          <p:cNvPr id="8" name="Text 6"/>
          <p:cNvSpPr/>
          <p:nvPr/>
        </p:nvSpPr>
        <p:spPr>
          <a:xfrm>
            <a:off x="4800600" y="1234440"/>
            <a:ext cx="3840480" cy="365760"/>
          </a:xfrm>
          <a:prstGeom prst="rect">
            <a:avLst/>
          </a:prstGeom>
          <a:noFill/>
          <a:ln/>
        </p:spPr>
        <p:txBody>
          <a:bodyPr wrap="square" rtlCol="0" anchor="ctr"/>
          <a:lstStyle/>
          <a:p>
            <a:pPr marL="0" indent="0">
              <a:buNone/>
            </a:pPr>
            <a:r>
              <a:rPr lang="en-US" sz="1500" b="1" dirty="0">
                <a:solidFill>
                  <a:srgbClr val="1F3864"/>
                </a:solidFill>
                <a:latin typeface="Arial" pitchFamily="34" charset="0"/>
                <a:ea typeface="Arial" pitchFamily="34" charset="-122"/>
                <a:cs typeface="Arial" pitchFamily="34" charset="-120"/>
              </a:rPr>
              <a:t>Four Models Compared</a:t>
            </a:r>
            <a:endParaRPr lang="en-US" sz="1500" dirty="0"/>
          </a:p>
        </p:txBody>
      </p:sp>
      <p:sp>
        <p:nvSpPr>
          <p:cNvPr id="9" name="Shape 7"/>
          <p:cNvSpPr/>
          <p:nvPr/>
        </p:nvSpPr>
        <p:spPr>
          <a:xfrm>
            <a:off x="4800600" y="1691640"/>
            <a:ext cx="3749040" cy="621792"/>
          </a:xfrm>
          <a:prstGeom prst="roundRect">
            <a:avLst>
              <a:gd name="adj" fmla="val 7353"/>
            </a:avLst>
          </a:prstGeom>
          <a:solidFill>
            <a:srgbClr val="EEF4FB"/>
          </a:solidFill>
          <a:ln w="12700">
            <a:solidFill>
              <a:srgbClr val="D6E4F0"/>
            </a:solidFill>
            <a:prstDash val="solid"/>
          </a:ln>
        </p:spPr>
        <p:txBody>
          <a:bodyPr/>
          <a:lstStyle/>
          <a:p>
            <a:endParaRPr lang="en-US"/>
          </a:p>
        </p:txBody>
      </p:sp>
      <p:sp>
        <p:nvSpPr>
          <p:cNvPr id="10" name="Text 8"/>
          <p:cNvSpPr/>
          <p:nvPr/>
        </p:nvSpPr>
        <p:spPr>
          <a:xfrm>
            <a:off x="4937760" y="1737360"/>
            <a:ext cx="3474720" cy="530352"/>
          </a:xfrm>
          <a:prstGeom prst="rect">
            <a:avLst/>
          </a:prstGeom>
          <a:noFill/>
          <a:ln/>
        </p:spPr>
        <p:txBody>
          <a:bodyPr wrap="square" rtlCol="0" anchor="ctr"/>
          <a:lstStyle/>
          <a:p>
            <a:pPr marL="0" indent="0">
              <a:buNone/>
            </a:pPr>
            <a:r>
              <a:rPr lang="en-US" sz="1200" b="1" dirty="0">
                <a:solidFill>
                  <a:srgbClr val="2E5FA3"/>
                </a:solidFill>
                <a:latin typeface="Arial" pitchFamily="34" charset="0"/>
                <a:ea typeface="Arial" pitchFamily="34" charset="-122"/>
                <a:cs typeface="Arial" pitchFamily="34" charset="-120"/>
              </a:rPr>
              <a:t>Linear Regression
</a:t>
            </a:r>
            <a:r>
              <a:rPr lang="en-US" sz="1100" dirty="0">
                <a:solidFill>
                  <a:srgbClr val="555555"/>
                </a:solidFill>
                <a:latin typeface="Arial" pitchFamily="34" charset="0"/>
                <a:ea typeface="Arial" pitchFamily="34" charset="-122"/>
                <a:cs typeface="Arial" pitchFamily="34" charset="-120"/>
              </a:rPr>
              <a:t>Baseline: linear feature relationships</a:t>
            </a:r>
            <a:endParaRPr lang="en-US" sz="1200" dirty="0"/>
          </a:p>
        </p:txBody>
      </p:sp>
      <p:sp>
        <p:nvSpPr>
          <p:cNvPr id="11" name="Shape 9"/>
          <p:cNvSpPr/>
          <p:nvPr/>
        </p:nvSpPr>
        <p:spPr>
          <a:xfrm>
            <a:off x="4800600" y="2441448"/>
            <a:ext cx="3749040" cy="621792"/>
          </a:xfrm>
          <a:prstGeom prst="roundRect">
            <a:avLst>
              <a:gd name="adj" fmla="val 7353"/>
            </a:avLst>
          </a:prstGeom>
          <a:solidFill>
            <a:srgbClr val="FFFFFF"/>
          </a:solidFill>
          <a:ln w="12700">
            <a:solidFill>
              <a:srgbClr val="D6E4F0"/>
            </a:solidFill>
            <a:prstDash val="solid"/>
          </a:ln>
        </p:spPr>
        <p:txBody>
          <a:bodyPr/>
          <a:lstStyle/>
          <a:p>
            <a:endParaRPr lang="en-US"/>
          </a:p>
        </p:txBody>
      </p:sp>
      <p:sp>
        <p:nvSpPr>
          <p:cNvPr id="12" name="Text 10"/>
          <p:cNvSpPr/>
          <p:nvPr/>
        </p:nvSpPr>
        <p:spPr>
          <a:xfrm>
            <a:off x="4937760" y="2487168"/>
            <a:ext cx="3474720" cy="530352"/>
          </a:xfrm>
          <a:prstGeom prst="rect">
            <a:avLst/>
          </a:prstGeom>
          <a:noFill/>
          <a:ln/>
        </p:spPr>
        <p:txBody>
          <a:bodyPr wrap="square" rtlCol="0" anchor="ctr"/>
          <a:lstStyle/>
          <a:p>
            <a:pPr marL="0" indent="0">
              <a:buNone/>
            </a:pPr>
            <a:r>
              <a:rPr lang="en-US" sz="1200" b="1" dirty="0">
                <a:solidFill>
                  <a:srgbClr val="2E5FA3"/>
                </a:solidFill>
                <a:latin typeface="Arial" pitchFamily="34" charset="0"/>
                <a:ea typeface="Arial" pitchFamily="34" charset="-122"/>
                <a:cs typeface="Arial" pitchFamily="34" charset="-120"/>
              </a:rPr>
              <a:t>Ridge Regression
</a:t>
            </a:r>
            <a:r>
              <a:rPr lang="en-US" sz="1100" dirty="0">
                <a:solidFill>
                  <a:srgbClr val="555555"/>
                </a:solidFill>
                <a:latin typeface="Arial" pitchFamily="34" charset="0"/>
                <a:ea typeface="Arial" pitchFamily="34" charset="-122"/>
                <a:cs typeface="Arial" pitchFamily="34" charset="-120"/>
              </a:rPr>
              <a:t>Regularized: handles correlated features</a:t>
            </a:r>
            <a:endParaRPr lang="en-US" sz="1200" dirty="0"/>
          </a:p>
        </p:txBody>
      </p:sp>
      <p:sp>
        <p:nvSpPr>
          <p:cNvPr id="13" name="Shape 11"/>
          <p:cNvSpPr/>
          <p:nvPr/>
        </p:nvSpPr>
        <p:spPr>
          <a:xfrm>
            <a:off x="4800600" y="3191256"/>
            <a:ext cx="3749040" cy="621792"/>
          </a:xfrm>
          <a:prstGeom prst="roundRect">
            <a:avLst>
              <a:gd name="adj" fmla="val 7353"/>
            </a:avLst>
          </a:prstGeom>
          <a:solidFill>
            <a:srgbClr val="EEF4FB"/>
          </a:solidFill>
          <a:ln w="12700">
            <a:solidFill>
              <a:srgbClr val="D6E4F0"/>
            </a:solidFill>
            <a:prstDash val="solid"/>
          </a:ln>
        </p:spPr>
        <p:txBody>
          <a:bodyPr/>
          <a:lstStyle/>
          <a:p>
            <a:endParaRPr lang="en-US"/>
          </a:p>
        </p:txBody>
      </p:sp>
      <p:sp>
        <p:nvSpPr>
          <p:cNvPr id="14" name="Text 12"/>
          <p:cNvSpPr/>
          <p:nvPr/>
        </p:nvSpPr>
        <p:spPr>
          <a:xfrm>
            <a:off x="4937760" y="3236976"/>
            <a:ext cx="3474720" cy="530352"/>
          </a:xfrm>
          <a:prstGeom prst="rect">
            <a:avLst/>
          </a:prstGeom>
          <a:noFill/>
          <a:ln/>
        </p:spPr>
        <p:txBody>
          <a:bodyPr wrap="square" rtlCol="0" anchor="ctr"/>
          <a:lstStyle/>
          <a:p>
            <a:pPr marL="0" indent="0">
              <a:buNone/>
            </a:pPr>
            <a:r>
              <a:rPr lang="en-US" sz="1200" b="1" dirty="0">
                <a:solidFill>
                  <a:srgbClr val="2E5FA3"/>
                </a:solidFill>
                <a:latin typeface="Arial" pitchFamily="34" charset="0"/>
                <a:ea typeface="Arial" pitchFamily="34" charset="-122"/>
                <a:cs typeface="Arial" pitchFamily="34" charset="-120"/>
              </a:rPr>
              <a:t>Random Forest
</a:t>
            </a:r>
            <a:r>
              <a:rPr lang="en-US" sz="1100" dirty="0">
                <a:solidFill>
                  <a:srgbClr val="555555"/>
                </a:solidFill>
                <a:latin typeface="Arial" pitchFamily="34" charset="0"/>
                <a:ea typeface="Arial" pitchFamily="34" charset="-122"/>
                <a:cs typeface="Arial" pitchFamily="34" charset="-120"/>
              </a:rPr>
              <a:t>Ensemble: non-linear interactions</a:t>
            </a:r>
            <a:endParaRPr lang="en-US" sz="1200" dirty="0"/>
          </a:p>
        </p:txBody>
      </p:sp>
      <p:sp>
        <p:nvSpPr>
          <p:cNvPr id="15" name="Shape 13"/>
          <p:cNvSpPr/>
          <p:nvPr/>
        </p:nvSpPr>
        <p:spPr>
          <a:xfrm>
            <a:off x="4800600" y="3941064"/>
            <a:ext cx="3749040" cy="621792"/>
          </a:xfrm>
          <a:prstGeom prst="roundRect">
            <a:avLst>
              <a:gd name="adj" fmla="val 7353"/>
            </a:avLst>
          </a:prstGeom>
          <a:solidFill>
            <a:srgbClr val="FFFFFF"/>
          </a:solidFill>
          <a:ln w="12700">
            <a:solidFill>
              <a:srgbClr val="D6E4F0"/>
            </a:solidFill>
            <a:prstDash val="solid"/>
          </a:ln>
        </p:spPr>
        <p:txBody>
          <a:bodyPr/>
          <a:lstStyle/>
          <a:p>
            <a:endParaRPr lang="en-US"/>
          </a:p>
        </p:txBody>
      </p:sp>
      <p:sp>
        <p:nvSpPr>
          <p:cNvPr id="16" name="Text 14"/>
          <p:cNvSpPr/>
          <p:nvPr/>
        </p:nvSpPr>
        <p:spPr>
          <a:xfrm>
            <a:off x="4937760" y="3986784"/>
            <a:ext cx="3474720" cy="530352"/>
          </a:xfrm>
          <a:prstGeom prst="rect">
            <a:avLst/>
          </a:prstGeom>
          <a:noFill/>
          <a:ln/>
        </p:spPr>
        <p:txBody>
          <a:bodyPr wrap="square" rtlCol="0" anchor="ctr"/>
          <a:lstStyle/>
          <a:p>
            <a:pPr marL="0" indent="0">
              <a:buNone/>
            </a:pPr>
            <a:r>
              <a:rPr lang="en-US" sz="1200" b="1" dirty="0">
                <a:solidFill>
                  <a:srgbClr val="2E5FA3"/>
                </a:solidFill>
                <a:latin typeface="Arial" pitchFamily="34" charset="0"/>
                <a:ea typeface="Arial" pitchFamily="34" charset="-122"/>
                <a:cs typeface="Arial" pitchFamily="34" charset="-120"/>
              </a:rPr>
              <a:t>Gradient Boosting
</a:t>
            </a:r>
            <a:r>
              <a:rPr lang="en-US" sz="1100" dirty="0" err="1">
                <a:solidFill>
                  <a:srgbClr val="555555"/>
                </a:solidFill>
                <a:latin typeface="Arial" pitchFamily="34" charset="0"/>
                <a:ea typeface="Arial" pitchFamily="34" charset="-122"/>
                <a:cs typeface="Arial" pitchFamily="34" charset="-120"/>
              </a:rPr>
              <a:t>XGBoost</a:t>
            </a:r>
            <a:r>
              <a:rPr lang="en-US" sz="1100" dirty="0">
                <a:solidFill>
                  <a:srgbClr val="555555"/>
                </a:solidFill>
                <a:latin typeface="Arial" pitchFamily="34" charset="0"/>
                <a:ea typeface="Arial" pitchFamily="34" charset="-122"/>
                <a:cs typeface="Arial" pitchFamily="34" charset="-120"/>
              </a:rPr>
              <a:t>: complex pattern detection</a:t>
            </a:r>
            <a:endParaRPr lang="en-US" sz="1200" dirty="0"/>
          </a:p>
        </p:txBody>
      </p:sp>
      <p:pic>
        <p:nvPicPr>
          <p:cNvPr id="38" name="Audio 37">
            <a:extLst>
              <a:ext uri="{FF2B5EF4-FFF2-40B4-BE49-F238E27FC236}">
                <a16:creationId xmlns:a16="http://schemas.microsoft.com/office/drawing/2014/main" id="{A8003C01-EF6C-AC6D-0100-7FB7D7C3528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55902"/>
    </mc:Choice>
    <mc:Fallback xmlns="">
      <p:transition spd="slow" advTm="5590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8"/>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F3864"/>
          </a:solidFill>
          <a:ln w="12700">
            <a:solidFill>
              <a:srgbClr val="1F3864"/>
            </a:solidFill>
            <a:prstDash val="solid"/>
          </a:ln>
        </p:spPr>
        <p:txBody>
          <a:bodyPr/>
          <a:lstStyle/>
          <a:p>
            <a:endParaRPr lang="en-US"/>
          </a:p>
        </p:txBody>
      </p:sp>
      <p:sp>
        <p:nvSpPr>
          <p:cNvPr id="3" name="Text 1"/>
          <p:cNvSpPr/>
          <p:nvPr/>
        </p:nvSpPr>
        <p:spPr>
          <a:xfrm>
            <a:off x="365760" y="0"/>
            <a:ext cx="8412480" cy="1005840"/>
          </a:xfrm>
          <a:prstGeom prst="rect">
            <a:avLst/>
          </a:prstGeom>
          <a:noFill/>
          <a:ln/>
        </p:spPr>
        <p:txBody>
          <a:bodyPr wrap="square" rtlCol="0" anchor="ctr"/>
          <a:lstStyle/>
          <a:p>
            <a:pPr marL="0" indent="0">
              <a:buNone/>
            </a:pPr>
            <a:r>
              <a:rPr lang="en-US" sz="2800" b="1" dirty="0">
                <a:solidFill>
                  <a:srgbClr val="FFFFFF"/>
                </a:solidFill>
                <a:latin typeface="Arial" pitchFamily="34" charset="0"/>
                <a:ea typeface="Arial" pitchFamily="34" charset="-122"/>
                <a:cs typeface="Arial" pitchFamily="34" charset="-120"/>
              </a:rPr>
              <a:t>RESULTS</a:t>
            </a:r>
            <a:endParaRPr lang="en-US" sz="2800" dirty="0"/>
          </a:p>
        </p:txBody>
      </p:sp>
      <p:sp>
        <p:nvSpPr>
          <p:cNvPr id="4" name="Shape 2"/>
          <p:cNvSpPr/>
          <p:nvPr/>
        </p:nvSpPr>
        <p:spPr>
          <a:xfrm>
            <a:off x="320040" y="1097280"/>
            <a:ext cx="5120640" cy="2606040"/>
          </a:xfrm>
          <a:prstGeom prst="roundRect">
            <a:avLst>
              <a:gd name="adj" fmla="val 2105"/>
            </a:avLst>
          </a:prstGeom>
          <a:solidFill>
            <a:srgbClr val="F8FAFC"/>
          </a:solidFill>
          <a:ln w="12700">
            <a:solidFill>
              <a:srgbClr val="D6E4F0"/>
            </a:solidFill>
            <a:prstDash val="solid"/>
          </a:ln>
          <a:effectLst>
            <a:outerShdw blurRad="101600" dist="38100" dir="2700000" algn="bl" rotWithShape="0">
              <a:srgbClr val="000000">
                <a:alpha val="12000"/>
              </a:srgbClr>
            </a:outerShdw>
          </a:effectLst>
        </p:spPr>
        <p:txBody>
          <a:bodyPr/>
          <a:lstStyle/>
          <a:p>
            <a:endParaRPr lang="en-US"/>
          </a:p>
        </p:txBody>
      </p:sp>
      <p:pic>
        <p:nvPicPr>
          <p:cNvPr id="5" name="Image 0" descr="/mnt/user-data/uploads/c6.PNG"/>
          <p:cNvPicPr>
            <a:picLocks noChangeAspect="1"/>
          </p:cNvPicPr>
          <p:nvPr/>
        </p:nvPicPr>
        <p:blipFill>
          <a:blip r:embed="rId5"/>
          <a:stretch>
            <a:fillRect/>
          </a:stretch>
        </p:blipFill>
        <p:spPr>
          <a:xfrm>
            <a:off x="411480" y="1170432"/>
            <a:ext cx="4937760" cy="2208308"/>
          </a:xfrm>
          <a:prstGeom prst="rect">
            <a:avLst/>
          </a:prstGeom>
        </p:spPr>
      </p:pic>
      <p:sp>
        <p:nvSpPr>
          <p:cNvPr id="6" name="Text 3"/>
          <p:cNvSpPr/>
          <p:nvPr/>
        </p:nvSpPr>
        <p:spPr>
          <a:xfrm>
            <a:off x="322634" y="3410712"/>
            <a:ext cx="5120640" cy="256032"/>
          </a:xfrm>
          <a:prstGeom prst="rect">
            <a:avLst/>
          </a:prstGeom>
          <a:noFill/>
          <a:ln/>
        </p:spPr>
        <p:txBody>
          <a:bodyPr wrap="square" rtlCol="0" anchor="ctr"/>
          <a:lstStyle/>
          <a:p>
            <a:pPr marL="0" indent="0" algn="ctr">
              <a:buNone/>
            </a:pPr>
            <a:r>
              <a:rPr lang="en-US" sz="1000" i="1" dirty="0">
                <a:solidFill>
                  <a:srgbClr val="64748B"/>
                </a:solidFill>
                <a:latin typeface="Arial" pitchFamily="34" charset="0"/>
                <a:ea typeface="Arial" pitchFamily="34" charset="-122"/>
                <a:cs typeface="Arial" pitchFamily="34" charset="-120"/>
              </a:rPr>
              <a:t>Test RMSE by Model vs. Vegas Benchmark</a:t>
            </a:r>
            <a:endParaRPr lang="en-US" sz="1000" dirty="0"/>
          </a:p>
        </p:txBody>
      </p:sp>
      <p:sp>
        <p:nvSpPr>
          <p:cNvPr id="7" name="Shape 4"/>
          <p:cNvSpPr/>
          <p:nvPr/>
        </p:nvSpPr>
        <p:spPr>
          <a:xfrm>
            <a:off x="5532120" y="1097280"/>
            <a:ext cx="3291840" cy="2606040"/>
          </a:xfrm>
          <a:prstGeom prst="roundRect">
            <a:avLst>
              <a:gd name="adj" fmla="val 2105"/>
            </a:avLst>
          </a:prstGeom>
          <a:solidFill>
            <a:srgbClr val="F8FAFC"/>
          </a:solidFill>
          <a:ln w="12700">
            <a:solidFill>
              <a:srgbClr val="D6E4F0"/>
            </a:solidFill>
            <a:prstDash val="solid"/>
          </a:ln>
          <a:effectLst>
            <a:outerShdw blurRad="101600" dist="38100" dir="2700000" algn="bl" rotWithShape="0">
              <a:srgbClr val="000000">
                <a:alpha val="12000"/>
              </a:srgbClr>
            </a:outerShdw>
          </a:effectLst>
        </p:spPr>
        <p:txBody>
          <a:bodyPr/>
          <a:lstStyle/>
          <a:p>
            <a:endParaRPr lang="en-US"/>
          </a:p>
        </p:txBody>
      </p:sp>
      <p:pic>
        <p:nvPicPr>
          <p:cNvPr id="8" name="Image 1" descr="/mnt/user-data/uploads/c8.PNG"/>
          <p:cNvPicPr>
            <a:picLocks noChangeAspect="1"/>
          </p:cNvPicPr>
          <p:nvPr/>
        </p:nvPicPr>
        <p:blipFill>
          <a:blip r:embed="rId6"/>
          <a:stretch>
            <a:fillRect/>
          </a:stretch>
        </p:blipFill>
        <p:spPr>
          <a:xfrm>
            <a:off x="5623560" y="1170432"/>
            <a:ext cx="3108960" cy="2208308"/>
          </a:xfrm>
          <a:prstGeom prst="rect">
            <a:avLst/>
          </a:prstGeom>
        </p:spPr>
      </p:pic>
      <p:sp>
        <p:nvSpPr>
          <p:cNvPr id="9" name="Text 5"/>
          <p:cNvSpPr/>
          <p:nvPr/>
        </p:nvSpPr>
        <p:spPr>
          <a:xfrm>
            <a:off x="5529526" y="3384966"/>
            <a:ext cx="3291840" cy="256032"/>
          </a:xfrm>
          <a:prstGeom prst="rect">
            <a:avLst/>
          </a:prstGeom>
          <a:noFill/>
          <a:ln/>
        </p:spPr>
        <p:txBody>
          <a:bodyPr wrap="square" rtlCol="0" anchor="ctr"/>
          <a:lstStyle/>
          <a:p>
            <a:pPr marL="0" indent="0" algn="ctr">
              <a:buNone/>
            </a:pPr>
            <a:r>
              <a:rPr lang="en-US" sz="1000" i="1" dirty="0">
                <a:solidFill>
                  <a:srgbClr val="64748B"/>
                </a:solidFill>
                <a:latin typeface="Arial" pitchFamily="34" charset="0"/>
                <a:ea typeface="Arial" pitchFamily="34" charset="-122"/>
                <a:cs typeface="Arial" pitchFamily="34" charset="-120"/>
              </a:rPr>
              <a:t>Feature Importance — Gradient Boosting Model</a:t>
            </a:r>
            <a:endParaRPr lang="en-US" sz="1000" dirty="0"/>
          </a:p>
        </p:txBody>
      </p:sp>
      <p:sp>
        <p:nvSpPr>
          <p:cNvPr id="10" name="Shape 6"/>
          <p:cNvSpPr/>
          <p:nvPr/>
        </p:nvSpPr>
        <p:spPr>
          <a:xfrm>
            <a:off x="320040" y="3886200"/>
            <a:ext cx="2743200" cy="1005840"/>
          </a:xfrm>
          <a:prstGeom prst="roundRect">
            <a:avLst>
              <a:gd name="adj" fmla="val 5455"/>
            </a:avLst>
          </a:prstGeom>
          <a:solidFill>
            <a:srgbClr val="F8FAFC"/>
          </a:solidFill>
          <a:ln w="12700">
            <a:solidFill>
              <a:srgbClr val="D6E4F0"/>
            </a:solidFill>
            <a:prstDash val="solid"/>
          </a:ln>
          <a:effectLst>
            <a:outerShdw blurRad="101600" dist="38100" dir="2700000" algn="bl" rotWithShape="0">
              <a:srgbClr val="000000">
                <a:alpha val="12000"/>
              </a:srgbClr>
            </a:outerShdw>
          </a:effectLst>
        </p:spPr>
        <p:txBody>
          <a:bodyPr/>
          <a:lstStyle/>
          <a:p>
            <a:endParaRPr lang="en-US"/>
          </a:p>
        </p:txBody>
      </p:sp>
      <p:sp>
        <p:nvSpPr>
          <p:cNvPr id="11" name="Text 7"/>
          <p:cNvSpPr/>
          <p:nvPr/>
        </p:nvSpPr>
        <p:spPr>
          <a:xfrm>
            <a:off x="320040" y="3913632"/>
            <a:ext cx="2743200" cy="475488"/>
          </a:xfrm>
          <a:prstGeom prst="rect">
            <a:avLst/>
          </a:prstGeom>
          <a:noFill/>
          <a:ln/>
        </p:spPr>
        <p:txBody>
          <a:bodyPr wrap="square" rtlCol="0" anchor="ctr"/>
          <a:lstStyle/>
          <a:p>
            <a:pPr marL="0" indent="0" algn="ctr">
              <a:buNone/>
            </a:pPr>
            <a:r>
              <a:rPr lang="en-US" sz="2600" b="1" dirty="0">
                <a:solidFill>
                  <a:srgbClr val="2E5FA3"/>
                </a:solidFill>
                <a:latin typeface="Arial" pitchFamily="34" charset="0"/>
                <a:ea typeface="Arial" pitchFamily="34" charset="-122"/>
                <a:cs typeface="Arial" pitchFamily="34" charset="-120"/>
              </a:rPr>
              <a:t>13.41</a:t>
            </a:r>
            <a:endParaRPr lang="en-US" sz="2600" dirty="0"/>
          </a:p>
        </p:txBody>
      </p:sp>
      <p:sp>
        <p:nvSpPr>
          <p:cNvPr id="12" name="Text 8"/>
          <p:cNvSpPr/>
          <p:nvPr/>
        </p:nvSpPr>
        <p:spPr>
          <a:xfrm>
            <a:off x="320040" y="4370832"/>
            <a:ext cx="2743200" cy="411480"/>
          </a:xfrm>
          <a:prstGeom prst="rect">
            <a:avLst/>
          </a:prstGeom>
          <a:noFill/>
          <a:ln/>
        </p:spPr>
        <p:txBody>
          <a:bodyPr wrap="square" rtlCol="0" anchor="ctr"/>
          <a:lstStyle/>
          <a:p>
            <a:pPr marL="0" indent="0" algn="ctr">
              <a:buNone/>
            </a:pPr>
            <a:r>
              <a:rPr lang="en-US" sz="1000" dirty="0">
                <a:solidFill>
                  <a:srgbClr val="64748B"/>
                </a:solidFill>
                <a:latin typeface="Arial" pitchFamily="34" charset="0"/>
                <a:ea typeface="Arial" pitchFamily="34" charset="-122"/>
                <a:cs typeface="Arial" pitchFamily="34" charset="-120"/>
              </a:rPr>
              <a:t>Best Model RMSE</a:t>
            </a:r>
            <a:endParaRPr lang="en-US" sz="1000" dirty="0"/>
          </a:p>
          <a:p>
            <a:pPr marL="0" indent="0" algn="ctr">
              <a:buNone/>
            </a:pPr>
            <a:r>
              <a:rPr lang="en-US" sz="1000" dirty="0">
                <a:solidFill>
                  <a:srgbClr val="64748B"/>
                </a:solidFill>
                <a:latin typeface="Arial" pitchFamily="34" charset="0"/>
                <a:ea typeface="Arial" pitchFamily="34" charset="-122"/>
                <a:cs typeface="Arial" pitchFamily="34" charset="-120"/>
              </a:rPr>
              <a:t>(Linear &amp; Ridge)</a:t>
            </a:r>
            <a:endParaRPr lang="en-US" sz="1000" dirty="0"/>
          </a:p>
        </p:txBody>
      </p:sp>
      <p:sp>
        <p:nvSpPr>
          <p:cNvPr id="13" name="Shape 9"/>
          <p:cNvSpPr/>
          <p:nvPr/>
        </p:nvSpPr>
        <p:spPr>
          <a:xfrm>
            <a:off x="3264408" y="3886200"/>
            <a:ext cx="2743200" cy="1005840"/>
          </a:xfrm>
          <a:prstGeom prst="roundRect">
            <a:avLst>
              <a:gd name="adj" fmla="val 5455"/>
            </a:avLst>
          </a:prstGeom>
          <a:solidFill>
            <a:srgbClr val="F8FAFC"/>
          </a:solidFill>
          <a:ln w="12700">
            <a:solidFill>
              <a:srgbClr val="D6E4F0"/>
            </a:solidFill>
            <a:prstDash val="solid"/>
          </a:ln>
          <a:effectLst>
            <a:outerShdw blurRad="101600" dist="38100" dir="2700000" algn="bl" rotWithShape="0">
              <a:srgbClr val="000000">
                <a:alpha val="12000"/>
              </a:srgbClr>
            </a:outerShdw>
          </a:effectLst>
        </p:spPr>
        <p:txBody>
          <a:bodyPr/>
          <a:lstStyle/>
          <a:p>
            <a:endParaRPr lang="en-US"/>
          </a:p>
        </p:txBody>
      </p:sp>
      <p:sp>
        <p:nvSpPr>
          <p:cNvPr id="14" name="Text 10"/>
          <p:cNvSpPr/>
          <p:nvPr/>
        </p:nvSpPr>
        <p:spPr>
          <a:xfrm>
            <a:off x="3264408" y="3913632"/>
            <a:ext cx="2743200" cy="475488"/>
          </a:xfrm>
          <a:prstGeom prst="rect">
            <a:avLst/>
          </a:prstGeom>
          <a:noFill/>
          <a:ln/>
        </p:spPr>
        <p:txBody>
          <a:bodyPr wrap="square" rtlCol="0" anchor="ctr"/>
          <a:lstStyle/>
          <a:p>
            <a:pPr marL="0" indent="0" algn="ctr">
              <a:buNone/>
            </a:pPr>
            <a:r>
              <a:rPr lang="en-US" sz="2600" b="1" dirty="0">
                <a:solidFill>
                  <a:srgbClr val="E8513A"/>
                </a:solidFill>
                <a:latin typeface="Arial" pitchFamily="34" charset="0"/>
                <a:ea typeface="Arial" pitchFamily="34" charset="-122"/>
                <a:cs typeface="Arial" pitchFamily="34" charset="-120"/>
              </a:rPr>
              <a:t>13.18</a:t>
            </a:r>
            <a:endParaRPr lang="en-US" sz="2600" dirty="0"/>
          </a:p>
        </p:txBody>
      </p:sp>
      <p:sp>
        <p:nvSpPr>
          <p:cNvPr id="15" name="Text 11"/>
          <p:cNvSpPr/>
          <p:nvPr/>
        </p:nvSpPr>
        <p:spPr>
          <a:xfrm>
            <a:off x="3264408" y="4370832"/>
            <a:ext cx="2743200" cy="411480"/>
          </a:xfrm>
          <a:prstGeom prst="rect">
            <a:avLst/>
          </a:prstGeom>
          <a:noFill/>
          <a:ln/>
        </p:spPr>
        <p:txBody>
          <a:bodyPr wrap="square" rtlCol="0" anchor="ctr"/>
          <a:lstStyle/>
          <a:p>
            <a:pPr marL="0" indent="0" algn="ctr">
              <a:buNone/>
            </a:pPr>
            <a:r>
              <a:rPr lang="en-US" sz="1000" dirty="0">
                <a:solidFill>
                  <a:srgbClr val="64748B"/>
                </a:solidFill>
                <a:latin typeface="Arial" pitchFamily="34" charset="0"/>
                <a:ea typeface="Arial" pitchFamily="34" charset="-122"/>
                <a:cs typeface="Arial" pitchFamily="34" charset="-120"/>
              </a:rPr>
              <a:t>Vegas Benchmark</a:t>
            </a:r>
            <a:endParaRPr lang="en-US" sz="1000" dirty="0"/>
          </a:p>
          <a:p>
            <a:pPr marL="0" indent="0" algn="ctr">
              <a:buNone/>
            </a:pPr>
            <a:r>
              <a:rPr lang="en-US" sz="1000" dirty="0">
                <a:solidFill>
                  <a:srgbClr val="64748B"/>
                </a:solidFill>
                <a:latin typeface="Arial" pitchFamily="34" charset="0"/>
                <a:ea typeface="Arial" pitchFamily="34" charset="-122"/>
                <a:cs typeface="Arial" pitchFamily="34" charset="-120"/>
              </a:rPr>
              <a:t>RMSE</a:t>
            </a:r>
            <a:endParaRPr lang="en-US" sz="1000" dirty="0"/>
          </a:p>
        </p:txBody>
      </p:sp>
      <p:sp>
        <p:nvSpPr>
          <p:cNvPr id="16" name="Shape 12"/>
          <p:cNvSpPr/>
          <p:nvPr/>
        </p:nvSpPr>
        <p:spPr>
          <a:xfrm>
            <a:off x="6208776" y="3886200"/>
            <a:ext cx="2743200" cy="1005840"/>
          </a:xfrm>
          <a:prstGeom prst="roundRect">
            <a:avLst>
              <a:gd name="adj" fmla="val 5455"/>
            </a:avLst>
          </a:prstGeom>
          <a:solidFill>
            <a:srgbClr val="F8FAFC"/>
          </a:solidFill>
          <a:ln w="12700">
            <a:solidFill>
              <a:srgbClr val="D6E4F0"/>
            </a:solidFill>
            <a:prstDash val="solid"/>
          </a:ln>
          <a:effectLst>
            <a:outerShdw blurRad="101600" dist="38100" dir="2700000" algn="bl" rotWithShape="0">
              <a:srgbClr val="000000">
                <a:alpha val="12000"/>
              </a:srgbClr>
            </a:outerShdw>
          </a:effectLst>
        </p:spPr>
        <p:txBody>
          <a:bodyPr/>
          <a:lstStyle/>
          <a:p>
            <a:endParaRPr lang="en-US"/>
          </a:p>
        </p:txBody>
      </p:sp>
      <p:sp>
        <p:nvSpPr>
          <p:cNvPr id="17" name="Text 13"/>
          <p:cNvSpPr/>
          <p:nvPr/>
        </p:nvSpPr>
        <p:spPr>
          <a:xfrm>
            <a:off x="6208776" y="3913632"/>
            <a:ext cx="2743200" cy="475488"/>
          </a:xfrm>
          <a:prstGeom prst="rect">
            <a:avLst/>
          </a:prstGeom>
          <a:noFill/>
          <a:ln/>
        </p:spPr>
        <p:txBody>
          <a:bodyPr wrap="square" rtlCol="0" anchor="ctr"/>
          <a:lstStyle/>
          <a:p>
            <a:pPr marL="0" indent="0" algn="ctr">
              <a:buNone/>
            </a:pPr>
            <a:r>
              <a:rPr lang="en-US" sz="2600" b="1" dirty="0">
                <a:solidFill>
                  <a:srgbClr val="2E7D32"/>
                </a:solidFill>
                <a:latin typeface="Arial" pitchFamily="34" charset="0"/>
                <a:ea typeface="Arial" pitchFamily="34" charset="-122"/>
                <a:cs typeface="Arial" pitchFamily="34" charset="-120"/>
              </a:rPr>
              <a:t>0.23 pts</a:t>
            </a:r>
            <a:endParaRPr lang="en-US" sz="2600" dirty="0"/>
          </a:p>
        </p:txBody>
      </p:sp>
      <p:sp>
        <p:nvSpPr>
          <p:cNvPr id="18" name="Text 14"/>
          <p:cNvSpPr/>
          <p:nvPr/>
        </p:nvSpPr>
        <p:spPr>
          <a:xfrm>
            <a:off x="6208776" y="4370832"/>
            <a:ext cx="2743200" cy="411480"/>
          </a:xfrm>
          <a:prstGeom prst="rect">
            <a:avLst/>
          </a:prstGeom>
          <a:noFill/>
          <a:ln/>
        </p:spPr>
        <p:txBody>
          <a:bodyPr wrap="square" rtlCol="0" anchor="ctr"/>
          <a:lstStyle/>
          <a:p>
            <a:pPr marL="0" indent="0" algn="ctr">
              <a:buNone/>
            </a:pPr>
            <a:r>
              <a:rPr lang="en-US" sz="1000" dirty="0">
                <a:solidFill>
                  <a:srgbClr val="64748B"/>
                </a:solidFill>
                <a:latin typeface="Arial" pitchFamily="34" charset="0"/>
                <a:ea typeface="Arial" pitchFamily="34" charset="-122"/>
                <a:cs typeface="Arial" pitchFamily="34" charset="-120"/>
              </a:rPr>
              <a:t>Gap vs. Vegas</a:t>
            </a:r>
            <a:endParaRPr lang="en-US" sz="1000" dirty="0"/>
          </a:p>
          <a:p>
            <a:pPr marL="0" indent="0" algn="ctr">
              <a:buNone/>
            </a:pPr>
            <a:r>
              <a:rPr lang="en-US" sz="1000" dirty="0">
                <a:solidFill>
                  <a:srgbClr val="64748B"/>
                </a:solidFill>
                <a:latin typeface="Arial" pitchFamily="34" charset="0"/>
                <a:ea typeface="Arial" pitchFamily="34" charset="-122"/>
                <a:cs typeface="Arial" pitchFamily="34" charset="-120"/>
              </a:rPr>
              <a:t>Public Data Only</a:t>
            </a:r>
            <a:endParaRPr lang="en-US" sz="1000" dirty="0"/>
          </a:p>
        </p:txBody>
      </p:sp>
      <p:pic>
        <p:nvPicPr>
          <p:cNvPr id="24" name="Audio 23">
            <a:extLst>
              <a:ext uri="{FF2B5EF4-FFF2-40B4-BE49-F238E27FC236}">
                <a16:creationId xmlns:a16="http://schemas.microsoft.com/office/drawing/2014/main" id="{526BEE0F-0243-B1EC-326E-77221CFB4265}"/>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72588"/>
    </mc:Choice>
    <mc:Fallback xmlns="">
      <p:transition spd="slow" advTm="7258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4"/>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F3864"/>
          </a:solidFill>
          <a:ln w="12700">
            <a:solidFill>
              <a:srgbClr val="1F3864"/>
            </a:solidFill>
            <a:prstDash val="solid"/>
          </a:ln>
        </p:spPr>
        <p:txBody>
          <a:bodyPr/>
          <a:lstStyle/>
          <a:p>
            <a:endParaRPr lang="en-US"/>
          </a:p>
        </p:txBody>
      </p:sp>
      <p:sp>
        <p:nvSpPr>
          <p:cNvPr id="3" name="Text 1"/>
          <p:cNvSpPr/>
          <p:nvPr/>
        </p:nvSpPr>
        <p:spPr>
          <a:xfrm>
            <a:off x="365760" y="0"/>
            <a:ext cx="8412480" cy="1005840"/>
          </a:xfrm>
          <a:prstGeom prst="rect">
            <a:avLst/>
          </a:prstGeom>
          <a:noFill/>
          <a:ln/>
        </p:spPr>
        <p:txBody>
          <a:bodyPr wrap="square" rtlCol="0" anchor="ctr"/>
          <a:lstStyle/>
          <a:p>
            <a:pPr marL="0" indent="0">
              <a:buNone/>
            </a:pPr>
            <a:r>
              <a:rPr lang="en-US" sz="2600" b="1" dirty="0">
                <a:solidFill>
                  <a:srgbClr val="FFFFFF"/>
                </a:solidFill>
                <a:latin typeface="Arial" pitchFamily="34" charset="0"/>
                <a:ea typeface="Arial" pitchFamily="34" charset="-122"/>
                <a:cs typeface="Arial" pitchFamily="34" charset="-120"/>
              </a:rPr>
              <a:t>KEY FINDINGS &amp; RECOMMENDATIONS</a:t>
            </a:r>
            <a:endParaRPr lang="en-US" sz="2600" dirty="0"/>
          </a:p>
        </p:txBody>
      </p:sp>
      <p:sp>
        <p:nvSpPr>
          <p:cNvPr id="4" name="Shape 2"/>
          <p:cNvSpPr/>
          <p:nvPr/>
        </p:nvSpPr>
        <p:spPr>
          <a:xfrm>
            <a:off x="365760" y="1143000"/>
            <a:ext cx="4114800" cy="1691640"/>
          </a:xfrm>
          <a:prstGeom prst="roundRect">
            <a:avLst>
              <a:gd name="adj" fmla="val 4324"/>
            </a:avLst>
          </a:prstGeom>
          <a:solidFill>
            <a:srgbClr val="EEF4FB"/>
          </a:solidFill>
          <a:ln w="12700">
            <a:solidFill>
              <a:srgbClr val="D6E4F0"/>
            </a:solidFill>
            <a:prstDash val="solid"/>
          </a:ln>
          <a:effectLst>
            <a:outerShdw blurRad="101600" dist="38100" dir="2700000" algn="bl" rotWithShape="0">
              <a:srgbClr val="000000">
                <a:alpha val="12000"/>
              </a:srgbClr>
            </a:outerShdw>
          </a:effectLst>
        </p:spPr>
        <p:txBody>
          <a:bodyPr/>
          <a:lstStyle/>
          <a:p>
            <a:endParaRPr lang="en-US"/>
          </a:p>
        </p:txBody>
      </p:sp>
      <p:sp>
        <p:nvSpPr>
          <p:cNvPr id="5" name="Text 3"/>
          <p:cNvSpPr/>
          <p:nvPr/>
        </p:nvSpPr>
        <p:spPr>
          <a:xfrm>
            <a:off x="502920" y="1280160"/>
            <a:ext cx="3840480" cy="1463040"/>
          </a:xfrm>
          <a:prstGeom prst="rect">
            <a:avLst/>
          </a:prstGeom>
          <a:noFill/>
          <a:ln/>
        </p:spPr>
        <p:txBody>
          <a:bodyPr wrap="square" rtlCol="0" anchor="t"/>
          <a:lstStyle/>
          <a:p>
            <a:pPr marL="0" indent="0">
              <a:buNone/>
            </a:pPr>
            <a:r>
              <a:rPr lang="en-US" sz="1300" b="1" dirty="0">
                <a:solidFill>
                  <a:srgbClr val="2E5FA3"/>
                </a:solidFill>
                <a:latin typeface="Arial" pitchFamily="34" charset="0"/>
                <a:ea typeface="Arial" pitchFamily="34" charset="-122"/>
                <a:cs typeface="Arial" pitchFamily="34" charset="-120"/>
              </a:rPr>
              <a:t>EPA Dominates
</a:t>
            </a:r>
            <a:r>
              <a:rPr lang="en-US" sz="1200" dirty="0">
                <a:solidFill>
                  <a:srgbClr val="333333"/>
                </a:solidFill>
                <a:latin typeface="Arial" pitchFamily="34" charset="0"/>
                <a:ea typeface="Arial" pitchFamily="34" charset="-122"/>
                <a:cs typeface="Arial" pitchFamily="34" charset="-120"/>
              </a:rPr>
              <a:t>Offensive EPA season averages were the strongest predictor at 17.5% feature importance. Defensive EPA collectively accounted for over 40%.</a:t>
            </a:r>
            <a:endParaRPr lang="en-US" sz="1300" dirty="0"/>
          </a:p>
        </p:txBody>
      </p:sp>
      <p:sp>
        <p:nvSpPr>
          <p:cNvPr id="6" name="Shape 4"/>
          <p:cNvSpPr/>
          <p:nvPr/>
        </p:nvSpPr>
        <p:spPr>
          <a:xfrm>
            <a:off x="4754880" y="1143000"/>
            <a:ext cx="4114800" cy="1691640"/>
          </a:xfrm>
          <a:prstGeom prst="roundRect">
            <a:avLst>
              <a:gd name="adj" fmla="val 4324"/>
            </a:avLst>
          </a:prstGeom>
          <a:solidFill>
            <a:srgbClr val="FEF3F0"/>
          </a:solidFill>
          <a:ln w="12700">
            <a:solidFill>
              <a:srgbClr val="FACBBF"/>
            </a:solidFill>
            <a:prstDash val="solid"/>
          </a:ln>
          <a:effectLst>
            <a:outerShdw blurRad="101600" dist="38100" dir="2700000" algn="bl" rotWithShape="0">
              <a:srgbClr val="000000">
                <a:alpha val="12000"/>
              </a:srgbClr>
            </a:outerShdw>
          </a:effectLst>
        </p:spPr>
        <p:txBody>
          <a:bodyPr/>
          <a:lstStyle/>
          <a:p>
            <a:endParaRPr lang="en-US"/>
          </a:p>
        </p:txBody>
      </p:sp>
      <p:sp>
        <p:nvSpPr>
          <p:cNvPr id="7" name="Text 5"/>
          <p:cNvSpPr/>
          <p:nvPr/>
        </p:nvSpPr>
        <p:spPr>
          <a:xfrm>
            <a:off x="4892040" y="1280160"/>
            <a:ext cx="3840480" cy="1463040"/>
          </a:xfrm>
          <a:prstGeom prst="rect">
            <a:avLst/>
          </a:prstGeom>
          <a:noFill/>
          <a:ln/>
        </p:spPr>
        <p:txBody>
          <a:bodyPr wrap="square" rtlCol="0" anchor="t"/>
          <a:lstStyle/>
          <a:p>
            <a:pPr marL="0" indent="0">
              <a:buNone/>
            </a:pPr>
            <a:r>
              <a:rPr lang="en-US" sz="1300" b="1" dirty="0">
                <a:solidFill>
                  <a:srgbClr val="E8513A"/>
                </a:solidFill>
                <a:latin typeface="Arial" pitchFamily="34" charset="0"/>
                <a:ea typeface="Arial" pitchFamily="34" charset="-122"/>
                <a:cs typeface="Arial" pitchFamily="34" charset="-120"/>
              </a:rPr>
              <a:t>Wind Beats Dome
</a:t>
            </a:r>
            <a:r>
              <a:rPr lang="en-US" sz="1200" dirty="0">
                <a:solidFill>
                  <a:srgbClr val="333333"/>
                </a:solidFill>
                <a:latin typeface="Arial" pitchFamily="34" charset="0"/>
                <a:ea typeface="Arial" pitchFamily="34" charset="-122"/>
                <a:cs typeface="Arial" pitchFamily="34" charset="-120"/>
              </a:rPr>
              <a:t>Wind (7.2% importance, negative) outperformed dome indicator (1.9%) despite dome games averaging 4.2 more points. EPA features absorb most venue signal.</a:t>
            </a:r>
            <a:endParaRPr lang="en-US" sz="1300" dirty="0"/>
          </a:p>
        </p:txBody>
      </p:sp>
      <p:sp>
        <p:nvSpPr>
          <p:cNvPr id="8" name="Shape 6"/>
          <p:cNvSpPr/>
          <p:nvPr/>
        </p:nvSpPr>
        <p:spPr>
          <a:xfrm>
            <a:off x="365760" y="3017520"/>
            <a:ext cx="4114800" cy="1691640"/>
          </a:xfrm>
          <a:prstGeom prst="roundRect">
            <a:avLst>
              <a:gd name="adj" fmla="val 4324"/>
            </a:avLst>
          </a:prstGeom>
          <a:solidFill>
            <a:srgbClr val="EEF4FB"/>
          </a:solidFill>
          <a:ln w="12700">
            <a:solidFill>
              <a:srgbClr val="D6E4F0"/>
            </a:solidFill>
            <a:prstDash val="solid"/>
          </a:ln>
          <a:effectLst>
            <a:outerShdw blurRad="101600" dist="38100" dir="2700000" algn="bl" rotWithShape="0">
              <a:srgbClr val="000000">
                <a:alpha val="12000"/>
              </a:srgbClr>
            </a:outerShdw>
          </a:effectLst>
        </p:spPr>
        <p:txBody>
          <a:bodyPr/>
          <a:lstStyle/>
          <a:p>
            <a:endParaRPr lang="en-US"/>
          </a:p>
        </p:txBody>
      </p:sp>
      <p:sp>
        <p:nvSpPr>
          <p:cNvPr id="9" name="Text 7"/>
          <p:cNvSpPr/>
          <p:nvPr/>
        </p:nvSpPr>
        <p:spPr>
          <a:xfrm>
            <a:off x="502920" y="3154680"/>
            <a:ext cx="3840480" cy="1463040"/>
          </a:xfrm>
          <a:prstGeom prst="rect">
            <a:avLst/>
          </a:prstGeom>
          <a:noFill/>
          <a:ln/>
        </p:spPr>
        <p:txBody>
          <a:bodyPr wrap="square" rtlCol="0" anchor="t"/>
          <a:lstStyle/>
          <a:p>
            <a:pPr marL="0" indent="0">
              <a:buNone/>
            </a:pPr>
            <a:r>
              <a:rPr lang="en-US" sz="1300" b="1" dirty="0">
                <a:solidFill>
                  <a:srgbClr val="2E5FA3"/>
                </a:solidFill>
                <a:latin typeface="Arial" pitchFamily="34" charset="0"/>
                <a:ea typeface="Arial" pitchFamily="34" charset="-122"/>
                <a:cs typeface="Arial" pitchFamily="34" charset="-120"/>
              </a:rPr>
              <a:t>Season &gt; Recent Form
</a:t>
            </a:r>
            <a:r>
              <a:rPr lang="en-US" sz="1200" dirty="0">
                <a:solidFill>
                  <a:srgbClr val="333333"/>
                </a:solidFill>
                <a:latin typeface="Arial" pitchFamily="34" charset="0"/>
                <a:ea typeface="Arial" pitchFamily="34" charset="-122"/>
                <a:cs typeface="Arial" pitchFamily="34" charset="-120"/>
              </a:rPr>
              <a:t>Full-season EPA averages outperformed rolling 4-week averages, especially mid-to-late season when team identity has stabilized.</a:t>
            </a:r>
            <a:endParaRPr lang="en-US" sz="1300" dirty="0"/>
          </a:p>
        </p:txBody>
      </p:sp>
      <p:sp>
        <p:nvSpPr>
          <p:cNvPr id="10" name="Shape 8"/>
          <p:cNvSpPr/>
          <p:nvPr/>
        </p:nvSpPr>
        <p:spPr>
          <a:xfrm>
            <a:off x="4754880" y="3017520"/>
            <a:ext cx="4114800" cy="1691640"/>
          </a:xfrm>
          <a:prstGeom prst="roundRect">
            <a:avLst>
              <a:gd name="adj" fmla="val 4324"/>
            </a:avLst>
          </a:prstGeom>
          <a:solidFill>
            <a:srgbClr val="FEF3F0"/>
          </a:solidFill>
          <a:ln w="12700">
            <a:solidFill>
              <a:srgbClr val="FACBBF"/>
            </a:solidFill>
            <a:prstDash val="solid"/>
          </a:ln>
          <a:effectLst>
            <a:outerShdw blurRad="101600" dist="38100" dir="2700000" algn="bl" rotWithShape="0">
              <a:srgbClr val="000000">
                <a:alpha val="12000"/>
              </a:srgbClr>
            </a:outerShdw>
          </a:effectLst>
        </p:spPr>
        <p:txBody>
          <a:bodyPr/>
          <a:lstStyle/>
          <a:p>
            <a:endParaRPr lang="en-US"/>
          </a:p>
        </p:txBody>
      </p:sp>
      <p:sp>
        <p:nvSpPr>
          <p:cNvPr id="11" name="Text 9"/>
          <p:cNvSpPr/>
          <p:nvPr/>
        </p:nvSpPr>
        <p:spPr>
          <a:xfrm>
            <a:off x="4892040" y="3154680"/>
            <a:ext cx="3840480" cy="1463040"/>
          </a:xfrm>
          <a:prstGeom prst="rect">
            <a:avLst/>
          </a:prstGeom>
          <a:noFill/>
          <a:ln/>
        </p:spPr>
        <p:txBody>
          <a:bodyPr wrap="square" rtlCol="0" anchor="t"/>
          <a:lstStyle/>
          <a:p>
            <a:pPr marL="0" indent="0">
              <a:buNone/>
            </a:pPr>
            <a:r>
              <a:rPr lang="en-US" sz="1300" b="1" dirty="0">
                <a:solidFill>
                  <a:srgbClr val="E8513A"/>
                </a:solidFill>
                <a:latin typeface="Arial" pitchFamily="34" charset="0"/>
                <a:ea typeface="Arial" pitchFamily="34" charset="-122"/>
                <a:cs typeface="Arial" pitchFamily="34" charset="-120"/>
              </a:rPr>
              <a:t>Public Data is Powerful
</a:t>
            </a:r>
            <a:r>
              <a:rPr lang="en-US" sz="1200" dirty="0">
                <a:solidFill>
                  <a:srgbClr val="333333"/>
                </a:solidFill>
                <a:latin typeface="Arial" pitchFamily="34" charset="0"/>
                <a:ea typeface="Arial" pitchFamily="34" charset="-122"/>
                <a:cs typeface="Arial" pitchFamily="34" charset="-120"/>
              </a:rPr>
              <a:t>A model built on free, public data trailed Vegas oddsmakers by only 0.23 RMSE points demonstrating how much signal EPA captures.</a:t>
            </a:r>
            <a:endParaRPr lang="en-US" sz="1300" dirty="0"/>
          </a:p>
        </p:txBody>
      </p:sp>
      <p:pic>
        <p:nvPicPr>
          <p:cNvPr id="29" name="Audio 28">
            <a:extLst>
              <a:ext uri="{FF2B5EF4-FFF2-40B4-BE49-F238E27FC236}">
                <a16:creationId xmlns:a16="http://schemas.microsoft.com/office/drawing/2014/main" id="{F3F4B158-5161-FB93-46ED-838ECA347D7D}"/>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0339"/>
    </mc:Choice>
    <mc:Fallback xmlns="">
      <p:transition spd="slow" advTm="4033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9"/>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F3864"/>
          </a:solidFill>
          <a:ln w="12700">
            <a:solidFill>
              <a:srgbClr val="1F3864"/>
            </a:solidFill>
            <a:prstDash val="solid"/>
          </a:ln>
        </p:spPr>
        <p:txBody>
          <a:bodyPr/>
          <a:lstStyle/>
          <a:p>
            <a:endParaRPr lang="en-US"/>
          </a:p>
        </p:txBody>
      </p:sp>
      <p:sp>
        <p:nvSpPr>
          <p:cNvPr id="3" name="Text 1"/>
          <p:cNvSpPr/>
          <p:nvPr/>
        </p:nvSpPr>
        <p:spPr>
          <a:xfrm>
            <a:off x="365760" y="0"/>
            <a:ext cx="8412480" cy="1005840"/>
          </a:xfrm>
          <a:prstGeom prst="rect">
            <a:avLst/>
          </a:prstGeom>
          <a:noFill/>
          <a:ln/>
        </p:spPr>
        <p:txBody>
          <a:bodyPr wrap="square" rtlCol="0" anchor="ctr"/>
          <a:lstStyle/>
          <a:p>
            <a:pPr marL="0" indent="0">
              <a:buNone/>
            </a:pPr>
            <a:r>
              <a:rPr lang="en-US" sz="2800" b="1" dirty="0">
                <a:solidFill>
                  <a:srgbClr val="FFFFFF"/>
                </a:solidFill>
                <a:latin typeface="Arial" pitchFamily="34" charset="0"/>
                <a:ea typeface="Arial" pitchFamily="34" charset="-122"/>
                <a:cs typeface="Arial" pitchFamily="34" charset="-120"/>
              </a:rPr>
              <a:t>LIMITATIONS &amp; FUTURE USES</a:t>
            </a:r>
            <a:endParaRPr lang="en-US" sz="2800" dirty="0"/>
          </a:p>
        </p:txBody>
      </p:sp>
      <p:sp>
        <p:nvSpPr>
          <p:cNvPr id="4" name="Shape 2"/>
          <p:cNvSpPr/>
          <p:nvPr/>
        </p:nvSpPr>
        <p:spPr>
          <a:xfrm>
            <a:off x="365760" y="1142999"/>
            <a:ext cx="3931920" cy="2054157"/>
          </a:xfrm>
          <a:prstGeom prst="roundRect">
            <a:avLst>
              <a:gd name="adj" fmla="val 2000"/>
            </a:avLst>
          </a:prstGeom>
          <a:solidFill>
            <a:srgbClr val="FEF3F0"/>
          </a:solidFill>
          <a:ln w="12700">
            <a:solidFill>
              <a:srgbClr val="FACBBF"/>
            </a:solidFill>
            <a:prstDash val="solid"/>
          </a:ln>
          <a:effectLst>
            <a:outerShdw blurRad="101600" dist="38100" dir="2700000" algn="bl" rotWithShape="0">
              <a:srgbClr val="000000">
                <a:alpha val="12000"/>
              </a:srgbClr>
            </a:outerShdw>
          </a:effectLst>
        </p:spPr>
        <p:txBody>
          <a:bodyPr/>
          <a:lstStyle/>
          <a:p>
            <a:endParaRPr lang="en-US"/>
          </a:p>
        </p:txBody>
      </p:sp>
      <p:sp>
        <p:nvSpPr>
          <p:cNvPr id="5" name="Text 3"/>
          <p:cNvSpPr/>
          <p:nvPr/>
        </p:nvSpPr>
        <p:spPr>
          <a:xfrm>
            <a:off x="502920" y="1234440"/>
            <a:ext cx="3657600" cy="365760"/>
          </a:xfrm>
          <a:prstGeom prst="rect">
            <a:avLst/>
          </a:prstGeom>
          <a:noFill/>
          <a:ln/>
        </p:spPr>
        <p:txBody>
          <a:bodyPr wrap="square" rtlCol="0" anchor="ctr"/>
          <a:lstStyle/>
          <a:p>
            <a:pPr marL="0" indent="0">
              <a:buNone/>
            </a:pPr>
            <a:r>
              <a:rPr lang="en-US" sz="1500" b="1" dirty="0">
                <a:solidFill>
                  <a:srgbClr val="E8513A"/>
                </a:solidFill>
                <a:latin typeface="Arial" pitchFamily="34" charset="0"/>
                <a:ea typeface="Arial" pitchFamily="34" charset="-122"/>
                <a:cs typeface="Arial" pitchFamily="34" charset="-120"/>
              </a:rPr>
              <a:t>Limitations</a:t>
            </a:r>
            <a:endParaRPr lang="en-US" sz="1500" dirty="0"/>
          </a:p>
        </p:txBody>
      </p:sp>
      <p:sp>
        <p:nvSpPr>
          <p:cNvPr id="6" name="Text 4"/>
          <p:cNvSpPr/>
          <p:nvPr/>
        </p:nvSpPr>
        <p:spPr>
          <a:xfrm>
            <a:off x="502920" y="1664208"/>
            <a:ext cx="3611880" cy="1435673"/>
          </a:xfrm>
          <a:prstGeom prst="rect">
            <a:avLst/>
          </a:prstGeom>
          <a:noFill/>
          <a:ln/>
        </p:spPr>
        <p:txBody>
          <a:bodyPr wrap="square" rtlCol="0" anchor="t"/>
          <a:lstStyle/>
          <a:p>
            <a:pPr marL="342900" indent="-342900">
              <a:buSzPct val="100000"/>
              <a:buChar char="•"/>
            </a:pPr>
            <a:r>
              <a:rPr lang="en-US" sz="1200" dirty="0">
                <a:solidFill>
                  <a:srgbClr val="333333"/>
                </a:solidFill>
                <a:latin typeface="Arial" pitchFamily="34" charset="0"/>
                <a:ea typeface="Arial" pitchFamily="34" charset="-122"/>
                <a:cs typeface="Arial" pitchFamily="34" charset="-120"/>
              </a:rPr>
              <a:t>No injury or practice data</a:t>
            </a:r>
            <a:endParaRPr lang="en-US" sz="1200" dirty="0"/>
          </a:p>
          <a:p>
            <a:pPr marL="342900" indent="-342900">
              <a:buSzPct val="100000"/>
              <a:buChar char="•"/>
            </a:pPr>
            <a:r>
              <a:rPr lang="en-US" sz="1200" dirty="0">
                <a:solidFill>
                  <a:srgbClr val="333333"/>
                </a:solidFill>
                <a:latin typeface="Arial" pitchFamily="34" charset="0"/>
                <a:ea typeface="Arial" pitchFamily="34" charset="-122"/>
                <a:cs typeface="Arial" pitchFamily="34" charset="-120"/>
              </a:rPr>
              <a:t>Weather missing for ~10-15% of games</a:t>
            </a:r>
            <a:endParaRPr lang="en-US" sz="1200" dirty="0"/>
          </a:p>
          <a:p>
            <a:pPr marL="342900" indent="-342900">
              <a:buSzPct val="100000"/>
              <a:buChar char="•"/>
            </a:pPr>
            <a:r>
              <a:rPr lang="en-US" sz="1200" dirty="0">
                <a:solidFill>
                  <a:srgbClr val="333333"/>
                </a:solidFill>
                <a:latin typeface="Arial" pitchFamily="34" charset="0"/>
                <a:ea typeface="Arial" pitchFamily="34" charset="-122"/>
                <a:cs typeface="Arial" pitchFamily="34" charset="-120"/>
              </a:rPr>
              <a:t>Predicts combined total only, not individual team scores</a:t>
            </a:r>
            <a:endParaRPr lang="en-US" sz="1200" dirty="0"/>
          </a:p>
          <a:p>
            <a:pPr marL="342900" indent="-342900">
              <a:buSzPct val="100000"/>
              <a:buChar char="•"/>
            </a:pPr>
            <a:r>
              <a:rPr lang="en-US" sz="1200" dirty="0">
                <a:solidFill>
                  <a:srgbClr val="333333"/>
                </a:solidFill>
                <a:latin typeface="Arial" pitchFamily="34" charset="0"/>
                <a:ea typeface="Arial" pitchFamily="34" charset="-122"/>
                <a:cs typeface="Arial" pitchFamily="34" charset="-120"/>
              </a:rPr>
              <a:t>Era differences (1999 vs. 2023 NFL) not fully adjusted</a:t>
            </a:r>
            <a:endParaRPr lang="en-US" sz="1200" dirty="0"/>
          </a:p>
          <a:p>
            <a:pPr marL="342900" indent="-342900">
              <a:buSzPct val="100000"/>
              <a:buChar char="•"/>
            </a:pPr>
            <a:r>
              <a:rPr lang="en-US" sz="1200" dirty="0">
                <a:solidFill>
                  <a:srgbClr val="333333"/>
                </a:solidFill>
                <a:latin typeface="Arial" pitchFamily="34" charset="0"/>
                <a:ea typeface="Arial" pitchFamily="34" charset="-122"/>
                <a:cs typeface="Arial" pitchFamily="34" charset="-120"/>
              </a:rPr>
              <a:t>Predictions carry meaningful uncertainty</a:t>
            </a:r>
            <a:endParaRPr lang="en-US" sz="1200" dirty="0"/>
          </a:p>
        </p:txBody>
      </p:sp>
      <p:sp>
        <p:nvSpPr>
          <p:cNvPr id="7" name="Shape 5"/>
          <p:cNvSpPr/>
          <p:nvPr/>
        </p:nvSpPr>
        <p:spPr>
          <a:xfrm>
            <a:off x="4663440" y="1143000"/>
            <a:ext cx="4114800" cy="2054156"/>
          </a:xfrm>
          <a:prstGeom prst="roundRect">
            <a:avLst>
              <a:gd name="adj" fmla="val 2000"/>
            </a:avLst>
          </a:prstGeom>
          <a:solidFill>
            <a:srgbClr val="EEF4FB"/>
          </a:solidFill>
          <a:ln w="12700">
            <a:solidFill>
              <a:srgbClr val="D6E4F0"/>
            </a:solidFill>
            <a:prstDash val="solid"/>
          </a:ln>
          <a:effectLst>
            <a:outerShdw blurRad="101600" dist="38100" dir="2700000" algn="bl" rotWithShape="0">
              <a:srgbClr val="000000">
                <a:alpha val="12000"/>
              </a:srgbClr>
            </a:outerShdw>
          </a:effectLst>
        </p:spPr>
        <p:txBody>
          <a:bodyPr/>
          <a:lstStyle/>
          <a:p>
            <a:endParaRPr lang="en-US"/>
          </a:p>
        </p:txBody>
      </p:sp>
      <p:sp>
        <p:nvSpPr>
          <p:cNvPr id="8" name="Text 6"/>
          <p:cNvSpPr/>
          <p:nvPr/>
        </p:nvSpPr>
        <p:spPr>
          <a:xfrm>
            <a:off x="4800600" y="1234440"/>
            <a:ext cx="3840480" cy="365760"/>
          </a:xfrm>
          <a:prstGeom prst="rect">
            <a:avLst/>
          </a:prstGeom>
          <a:noFill/>
          <a:ln/>
        </p:spPr>
        <p:txBody>
          <a:bodyPr wrap="square" rtlCol="0" anchor="ctr"/>
          <a:lstStyle/>
          <a:p>
            <a:pPr marL="0" indent="0">
              <a:buNone/>
            </a:pPr>
            <a:r>
              <a:rPr lang="en-US" sz="1500" b="1" dirty="0">
                <a:solidFill>
                  <a:srgbClr val="2E5FA3"/>
                </a:solidFill>
                <a:latin typeface="Arial" pitchFamily="34" charset="0"/>
                <a:ea typeface="Arial" pitchFamily="34" charset="-122"/>
                <a:cs typeface="Arial" pitchFamily="34" charset="-120"/>
              </a:rPr>
              <a:t>Future Applications</a:t>
            </a:r>
            <a:endParaRPr lang="en-US" sz="1500" dirty="0"/>
          </a:p>
        </p:txBody>
      </p:sp>
      <p:sp>
        <p:nvSpPr>
          <p:cNvPr id="9" name="Text 7"/>
          <p:cNvSpPr/>
          <p:nvPr/>
        </p:nvSpPr>
        <p:spPr>
          <a:xfrm>
            <a:off x="4800600" y="1664208"/>
            <a:ext cx="3749040" cy="1435673"/>
          </a:xfrm>
          <a:prstGeom prst="rect">
            <a:avLst/>
          </a:prstGeom>
          <a:noFill/>
          <a:ln/>
        </p:spPr>
        <p:txBody>
          <a:bodyPr wrap="square" rtlCol="0" anchor="t"/>
          <a:lstStyle/>
          <a:p>
            <a:pPr marL="342900" indent="-342900">
              <a:buSzPct val="100000"/>
              <a:buChar char="•"/>
            </a:pPr>
            <a:r>
              <a:rPr lang="en-US" sz="1200" dirty="0">
                <a:solidFill>
                  <a:srgbClr val="333333"/>
                </a:solidFill>
                <a:latin typeface="Arial" pitchFamily="34" charset="0"/>
                <a:ea typeface="Arial" pitchFamily="34" charset="-122"/>
                <a:cs typeface="Arial" pitchFamily="34" charset="-120"/>
              </a:rPr>
              <a:t>Separate models per team score</a:t>
            </a:r>
            <a:endParaRPr lang="en-US" sz="1200" dirty="0"/>
          </a:p>
          <a:p>
            <a:pPr marL="342900" indent="-342900">
              <a:buSzPct val="100000"/>
              <a:buChar char="•"/>
            </a:pPr>
            <a:r>
              <a:rPr lang="en-US" sz="1200" dirty="0">
                <a:solidFill>
                  <a:srgbClr val="333333"/>
                </a:solidFill>
                <a:latin typeface="Arial" pitchFamily="34" charset="0"/>
                <a:ea typeface="Arial" pitchFamily="34" charset="-122"/>
                <a:cs typeface="Arial" pitchFamily="34" charset="-120"/>
              </a:rPr>
              <a:t>Live in-season weekly updating</a:t>
            </a:r>
            <a:endParaRPr lang="en-US" sz="1200" dirty="0"/>
          </a:p>
          <a:p>
            <a:pPr marL="342900" indent="-342900">
              <a:buSzPct val="100000"/>
              <a:buChar char="•"/>
            </a:pPr>
            <a:r>
              <a:rPr lang="en-US" sz="1200" dirty="0">
                <a:solidFill>
                  <a:srgbClr val="333333"/>
                </a:solidFill>
                <a:latin typeface="Arial" pitchFamily="34" charset="0"/>
                <a:ea typeface="Arial" pitchFamily="34" charset="-122"/>
                <a:cs typeface="Arial" pitchFamily="34" charset="-120"/>
              </a:rPr>
              <a:t>Quarterback EPA as individual feature</a:t>
            </a:r>
            <a:endParaRPr lang="en-US" sz="1200" dirty="0"/>
          </a:p>
          <a:p>
            <a:pPr marL="342900" indent="-342900">
              <a:buSzPct val="100000"/>
              <a:buChar char="•"/>
            </a:pPr>
            <a:r>
              <a:rPr lang="en-US" sz="1200" dirty="0">
                <a:solidFill>
                  <a:srgbClr val="333333"/>
                </a:solidFill>
                <a:latin typeface="Arial" pitchFamily="34" charset="0"/>
                <a:ea typeface="Arial" pitchFamily="34" charset="-122"/>
                <a:cs typeface="Arial" pitchFamily="34" charset="-120"/>
              </a:rPr>
              <a:t>Adaptation to NBA, NHL, college football</a:t>
            </a:r>
            <a:endParaRPr lang="en-US" sz="1200" dirty="0"/>
          </a:p>
          <a:p>
            <a:pPr marL="342900" indent="-342900">
              <a:buSzPct val="100000"/>
              <a:buChar char="•"/>
            </a:pPr>
            <a:r>
              <a:rPr lang="en-US" sz="1200" dirty="0">
                <a:solidFill>
                  <a:srgbClr val="333333"/>
                </a:solidFill>
                <a:latin typeface="Arial" pitchFamily="34" charset="0"/>
                <a:ea typeface="Arial" pitchFamily="34" charset="-122"/>
                <a:cs typeface="Arial" pitchFamily="34" charset="-120"/>
              </a:rPr>
              <a:t>Real-time broadcast scoring range tool</a:t>
            </a:r>
            <a:endParaRPr lang="en-US" sz="1200" dirty="0"/>
          </a:p>
        </p:txBody>
      </p:sp>
      <p:pic>
        <p:nvPicPr>
          <p:cNvPr id="16" name="Picture 15" descr="NFL Player Care Foundation | NFL Alumni">
            <a:extLst>
              <a:ext uri="{FF2B5EF4-FFF2-40B4-BE49-F238E27FC236}">
                <a16:creationId xmlns:a16="http://schemas.microsoft.com/office/drawing/2014/main" id="{EFB59CBB-6191-C03E-6CDE-CC3B93231DF6}"/>
              </a:ext>
            </a:extLst>
          </p:cNvPr>
          <p:cNvPicPr>
            <a:picLocks noChangeAspect="1"/>
          </p:cNvPicPr>
          <p:nvPr/>
        </p:nvPicPr>
        <p:blipFill>
          <a:blip r:embed="rId5"/>
          <a:srcRect b="30542"/>
          <a:stretch>
            <a:fillRect/>
          </a:stretch>
        </p:blipFill>
        <p:spPr>
          <a:xfrm>
            <a:off x="365761" y="3376988"/>
            <a:ext cx="8412479" cy="1558178"/>
          </a:xfrm>
          <a:prstGeom prst="rect">
            <a:avLst/>
          </a:prstGeom>
        </p:spPr>
      </p:pic>
      <p:pic>
        <p:nvPicPr>
          <p:cNvPr id="64" name="Audio 63">
            <a:extLst>
              <a:ext uri="{FF2B5EF4-FFF2-40B4-BE49-F238E27FC236}">
                <a16:creationId xmlns:a16="http://schemas.microsoft.com/office/drawing/2014/main" id="{D1696F5B-3DC9-45AC-E74A-13884B7695A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84653"/>
    </mc:Choice>
    <mc:Fallback xmlns="">
      <p:transition spd="slow" advTm="846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4"/>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TotalTime>
  <Words>889</Words>
  <Application>Microsoft Office PowerPoint</Application>
  <PresentationFormat>On-screen Show (16:9)</PresentationFormat>
  <Paragraphs>65</Paragraphs>
  <Slides>6</Slides>
  <Notes>6</Notes>
  <HiddenSlides>0</HiddenSlides>
  <MMClips>6</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6</vt:i4>
      </vt:variant>
    </vt:vector>
  </HeadingPairs>
  <TitlesOfParts>
    <vt:vector size="8"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the Scoreboard</dc:title>
  <dc:subject>PptxGenJS Presentation</dc:subject>
  <dc:creator>Omar Rodriguez Arellano</dc:creator>
  <cp:lastModifiedBy>Omar Rodriguez</cp:lastModifiedBy>
  <cp:revision>4</cp:revision>
  <dcterms:created xsi:type="dcterms:W3CDTF">2026-07-04T17:17:56Z</dcterms:created>
  <dcterms:modified xsi:type="dcterms:W3CDTF">2026-08-18T16:45:32Z</dcterms:modified>
</cp:coreProperties>
</file>